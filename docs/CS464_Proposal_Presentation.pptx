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E935931-987B-ED3A-A6CF-F5C3786FA8B1}">
          <p14:sldIdLst>
            <p14:sldId id="256"/>
            <p14:sldId id="257"/>
          </p14:sldIdLst>
        </p14:section>
        <p14:section name="Background" id="{749BBE1B-5346-36A2-734A-2687B08F6CA0}">
          <p14:sldIdLst>
            <p14:sldId id="258"/>
            <p14:sldId id="259"/>
          </p14:sldIdLst>
        </p14:section>
        <p14:section name="Study" id="{BA5D2331-BFE0-137D-A5BB-A7F7AAD3DF27}">
          <p14:sldIdLst>
            <p14:sldId id="260"/>
            <p14:sldId id="261"/>
            <p14:sldId id="262"/>
            <p14:sldId id="263"/>
            <p14:sldId id="264"/>
          </p14:sldIdLst>
        </p14:section>
        <p14:section name="Impact" id="{C7877EB8-1684-B4D1-9D74-9CB0B8BCA4EA}">
          <p14:sldIdLst>
            <p14:sldId id="265"/>
            <p14:sldId id="266"/>
          </p14:sldIdLst>
        </p14:section>
        <p14:section name="References" id="{5FE4780C-EBB0-5787-51F1-173D76204B9A}">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70F831-F181-A764-4E82-5C7E27F4FA80}" v="1" dt="2026-10-06T02:57:17.473"/>
    <p1510:client id="{8BA04820-FF88-D870-C1C0-E5D79DFAB37E}" v="2" dt="2026-10-06T01:41:36.730"/>
    <p1510:client id="{FBD1C29D-6316-0D34-C161-72CAC2F87C01}" v="24" dt="2026-10-06T00:41:53.8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92"/>
    <p:restoredTop sz="94560"/>
  </p:normalViewPr>
  <p:slideViewPr>
    <p:cSldViewPr snapToGrid="0">
      <p:cViewPr varScale="1">
        <p:scale>
          <a:sx n="170" d="100"/>
          <a:sy n="170" d="100"/>
        </p:scale>
        <p:origin x="20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24323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Mahanyas. Hi everyone, we are Team *Our project asks a simple question: does teleporting in VR get you lost, and can a trail on the floor fix that? We compare three ways of moving through a VR escape task: joystick, teleport, and teleport with a trail.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Yulisa. In VR the world is usually bigger than the room you are in, so apps need an artificial way to move you. The two common ones are joystick and teleport. Joystick is smooth, but your eyes see motion while your body stays still, so it causes the most motion sickness. Teleport avoids that, but the instant jump makes people lose track of where they are. So designers have to pick between comfort and orientation. That matters because sick users take the headset off and lost users waste time.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Yulisa. Prior work backs both sides of this trade-off. Bowman and colleagues in 1997 found that instantly teleporting users increased disorientation. Langbehn in 2018 and Boletsis and Cedergren in 2019 both found that joystick movement causes the most motion sickness. Cherep in 2020 showed that teleporting still disorients people even with walls around them, which only partly helped. And Darken and Sibert in 1996 showed that visual cues shape how people find their way in virtual worlds.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Yulisa. So we know teleport disorients people, joystick makes them sick, and visual cues help with wayfinding. What we could not find is a study that puts those together: adding a simple visible trail to teleport and testing it in a search task where getting lost costs time. Earlier studies also mostly used questionnaires or short pointing tasks, not a direct measure of getting lost like backtracking. And any fix has to keep teleport comfortable, so motion sickness needs to be checked again.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Sai. Our objective is to find which movement method gets users through a VR escape task fastest with the least motion sickness. We have two research questions. RQ1: does the movement method affect how efficiently users reach the exit? We expect teleport with a trail to be the fastest, with less backtracking than plain teleport. RQ2: does the movement method affect motion sickness? We expect joystick to cause the most, and we expect the trail to add no extra sickness compared with plain teleport.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Ashley (recorded). For the apparatus we use a Meta Quest 3 headset. It is standalone, so there is no PC or cable, and one of us already owns it. We build the app in Unity with the XR Interaction Toolkit, which already has joystick and teleport, and the app logs position and time. The task: you start in the first of three connected rooms. Each room hides a lever. Flipping a lever opens the gate to the next room, and the third lever unlocks the exit. We picked levers behind gates because you have to search each room, so losing track of where you have looked costs time, and nobody gets stuck the way they could in a maze.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Ashley (recorded). Our independent variable is the movement method, with three levels. Joystick: you push the thumbstick and glide. Teleport: you point at the floor and jump there instantly. Trail-assisted teleport: the same teleport, but every spot you land on leaves a marker on the floor, joined by a line, so you can see where you have already been. We use these three because joystick and teleport are the two standard methods, and the trail version isolates the effect of the trail. Everything else, like turning and the rooms, is the same in all three.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Ashley (recorded). We measure three main things. Completion time is the seconds from the start to passing the exit, logged by Unity. Backtracking is how many times someone re-enters a part of the floor they already visited, which we compute from the position log; it is our direct sign of being lost. Motion sickness is a standard survey, the Simulator Sickness Questionnaire, filled out after each method. At the end participants also rank the three methods and tell us which felt most comfortable.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Ashley (recorded). The design is within-subjects, so everyone tries all three methods. That means we need fewer people, and differences between people do not skew the results. We build one set of rooms and three lever layouts, so the levers are in different spots each round and nobody can memorize them. A three by three Latin square balances the order: each method shows up once in each position and once with each layout. We plan for 9 to 12 participants, with a baseline survey and five-minute breaks so sickness can fade.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Mahanyas. Who benefits? Any VR app where people move through a space bigger than their room: safety and medical training, virtual classrooms and labs, games, and virtual tours. Designers get evidence for which movement method to make the default, and a trail is cheap to add to an existing teleport system. First-time users and people who get motion sick easily benefit the most, because they could use the comfortable method without losing time.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Presenter: Mahanyas. How does this relate to HCI? Movement is how the user controls a VR system, so it is a core interaction design problem. Our study is about a usability trade-off: efficiency, meaning time and backtracking, against comfort, meaning motion sickness. The trail is a wayfinding aid: it adds information to the interface to reduce disorientation. And we evaluate it the HCI way, with a controlled experiment that combines logged behavior and a standard questionnaire. Thank you, we are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References. No narration needed; leave up during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rtlCol="0"/>
          <a:lstStyle>
            <a:lvl1pPr marL="0" indent="0" algn="l">
              <a:buNone/>
              <a:defRPr lang="en-US" sz="2500" dirty="0">
                <a:solidFill>
                  <a:srgbClr val="292934"/>
                </a:solidFill>
                <a:latin typeface="Tahoma" pitchFamily="34" charset="0"/>
                <a:ea typeface="Tahoma" pitchFamily="34" charset="-122"/>
                <a:cs typeface="Tahoma" pitchFamily="34" charset="-120"/>
              </a:defRPr>
            </a:lvl1pPr>
          </a:lstStyle>
          <a:p>
            <a:pPr marL="0" indent="0" algn="l">
              <a:buNone/>
            </a:pPr>
            <a:endParaRPr lang="en-US" sz="2500"/>
          </a:p>
        </p:txBody>
      </p:sp>
      <p:sp>
        <p:nvSpPr>
          <p:cNvPr id="25" name="Slide Number Placeholder 0"/>
          <p:cNvSpPr>
            <a:spLocks noGrp="1"/>
          </p:cNvSpPr>
          <p:nvPr>
            <p:ph type="sldNum" sz="quarter" idx="4294967295"/>
          </p:nvPr>
        </p:nvSpPr>
        <p:spPr>
          <a:xfrm>
            <a:off x="8412480" y="4800600"/>
            <a:ext cx="36576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F7F7F"/>
                </a:solidFill>
                <a:latin typeface="Tahoma"/>
                <a:ea typeface="Tahoma"/>
                <a:cs typeface="Tahoma"/>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188720"/>
            <a:ext cx="4663440" cy="868680"/>
          </a:xfrm>
          <a:prstGeom prst="rect">
            <a:avLst/>
          </a:prstGeom>
          <a:noFill/>
          <a:ln/>
        </p:spPr>
        <p:txBody>
          <a:bodyPr wrap="square" rtlCol="0"/>
          <a:lstStyle>
            <a:lvl1pPr marL="0" indent="0" algn="l">
              <a:buNone/>
              <a:defRPr lang="en-US" sz="2500" dirty="0">
                <a:solidFill>
                  <a:srgbClr val="292934"/>
                </a:solidFill>
                <a:latin typeface="Tahoma" pitchFamily="34" charset="0"/>
                <a:ea typeface="Tahoma" pitchFamily="34" charset="-122"/>
                <a:cs typeface="Tahoma" pitchFamily="34" charset="-120"/>
              </a:defRPr>
            </a:lvl1pPr>
          </a:lstStyle>
          <a:p>
            <a:pPr marL="0" indent="0" algn="l">
              <a:buNone/>
            </a:pPr>
            <a:endParaRPr lang="en-US" sz="250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36576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F7F7F"/>
                </a:solidFill>
                <a:latin typeface="Tahoma"/>
                <a:ea typeface="Tahoma"/>
                <a:cs typeface="Tahoma"/>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1.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1.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188720"/>
            <a:ext cx="4663440" cy="868680"/>
          </a:xfrm>
          <a:prstGeom prst="rect">
            <a:avLst/>
          </a:prstGeom>
          <a:noFill/>
          <a:ln/>
        </p:spPr>
        <p:txBody>
          <a:bodyPr wrap="square" lIns="0" tIns="0" rIns="0" bIns="0" rtlCol="0" anchor="t"/>
          <a:lstStyle/>
          <a:p>
            <a:pPr marL="0" indent="0" algn="l">
              <a:buNone/>
            </a:pPr>
            <a:r>
              <a:rPr lang="en-US" sz="2500" dirty="0">
                <a:solidFill>
                  <a:srgbClr val="292934"/>
                </a:solidFill>
                <a:latin typeface="Tahoma" pitchFamily="34" charset="0"/>
                <a:ea typeface="Tahoma" pitchFamily="34" charset="-122"/>
                <a:cs typeface="Tahoma" pitchFamily="34" charset="-120"/>
              </a:rPr>
              <a:t>Does Teleporting Get You Lost?</a:t>
            </a:r>
            <a:endParaRPr lang="en-US" sz="2500" dirty="0"/>
          </a:p>
        </p:txBody>
      </p:sp>
      <p:sp>
        <p:nvSpPr>
          <p:cNvPr id="3" name="Text 1"/>
          <p:cNvSpPr txBox="1"/>
          <p:nvPr/>
        </p:nvSpPr>
        <p:spPr>
          <a:xfrm>
            <a:off x="457200" y="2057400"/>
            <a:ext cx="4480560" cy="731520"/>
          </a:xfrm>
          <a:prstGeom prst="rect">
            <a:avLst/>
          </a:prstGeom>
          <a:noFill/>
          <a:ln/>
        </p:spPr>
        <p:txBody>
          <a:bodyPr wrap="square" lIns="0" tIns="0" rIns="0" bIns="0" rtlCol="0" anchor="t"/>
          <a:lstStyle/>
          <a:p>
            <a:pPr marL="0" indent="0" algn="l">
              <a:buNone/>
            </a:pPr>
            <a:r>
              <a:rPr lang="en-US" sz="1600" dirty="0">
                <a:solidFill>
                  <a:srgbClr val="595959"/>
                </a:solidFill>
                <a:latin typeface="Tahoma" pitchFamily="34" charset="0"/>
                <a:ea typeface="Tahoma" pitchFamily="34" charset="-122"/>
                <a:cs typeface="Tahoma" pitchFamily="34" charset="-120"/>
              </a:rPr>
              <a:t>Comparing Joystick, Teleport, and Trail-Assisted Teleport Movement in a VR Escape Task</a:t>
            </a:r>
            <a:endParaRPr lang="en-US" sz="1600" dirty="0"/>
          </a:p>
        </p:txBody>
      </p:sp>
      <p:sp>
        <p:nvSpPr>
          <p:cNvPr id="4" name="Text 2"/>
          <p:cNvSpPr txBox="1"/>
          <p:nvPr/>
        </p:nvSpPr>
        <p:spPr>
          <a:xfrm>
            <a:off x="457200" y="777240"/>
            <a:ext cx="4663440" cy="274320"/>
          </a:xfrm>
          <a:prstGeom prst="rect">
            <a:avLst/>
          </a:prstGeom>
          <a:noFill/>
          <a:ln/>
        </p:spPr>
        <p:txBody>
          <a:bodyPr wrap="square" lIns="0" tIns="0" rIns="0" bIns="0" rtlCol="0" anchor="ctr"/>
          <a:lstStyle/>
          <a:p>
            <a:pPr marL="0" indent="0" algn="l">
              <a:buNone/>
            </a:pPr>
            <a:r>
              <a:rPr lang="en-US" sz="1200">
                <a:solidFill>
                  <a:srgbClr val="595959"/>
                </a:solidFill>
                <a:latin typeface="Tahoma" pitchFamily="34" charset="0"/>
                <a:ea typeface="Tahoma" pitchFamily="34" charset="-122"/>
                <a:cs typeface="Tahoma" pitchFamily="34" charset="-120"/>
              </a:rPr>
              <a:t>CS 464 Final Project Proposal, Fall 2026</a:t>
            </a:r>
            <a:endParaRPr lang="en-US" sz="1200"/>
          </a:p>
        </p:txBody>
      </p:sp>
      <p:sp>
        <p:nvSpPr>
          <p:cNvPr id="5" name="Group members"/>
          <p:cNvSpPr txBox="1"/>
          <p:nvPr/>
        </p:nvSpPr>
        <p:spPr>
          <a:xfrm>
            <a:off x="457200" y="3063240"/>
            <a:ext cx="4663440" cy="1280160"/>
          </a:xfrm>
          <a:prstGeom prst="rect">
            <a:avLst/>
          </a:prstGeom>
          <a:noFill/>
          <a:ln/>
        </p:spPr>
        <p:txBody>
          <a:bodyPr wrap="square" lIns="0" tIns="0" rIns="0" bIns="0" rtlCol="0" anchor="t"/>
          <a:lstStyle/>
          <a:p>
            <a:pPr marL="0" indent="0">
              <a:spcAft>
                <a:spcPts val="400"/>
              </a:spcAft>
              <a:buNone/>
            </a:pPr>
            <a:r>
              <a:rPr lang="en-US" sz="1600" dirty="0">
                <a:solidFill>
                  <a:srgbClr val="292934"/>
                </a:solidFill>
                <a:latin typeface="Tahoma" pitchFamily="34" charset="0"/>
                <a:ea typeface="Tahoma" pitchFamily="34" charset="-122"/>
                <a:cs typeface="Tahoma" pitchFamily="34" charset="-120"/>
              </a:rPr>
              <a:t>Mahanyas Baira</a:t>
            </a:r>
            <a:endParaRPr lang="en-US" sz="1600" dirty="0"/>
          </a:p>
          <a:p>
            <a:pPr marL="0" indent="0">
              <a:spcAft>
                <a:spcPts val="400"/>
              </a:spcAft>
              <a:buNone/>
            </a:pPr>
            <a:r>
              <a:rPr lang="en-US" sz="1600" dirty="0">
                <a:solidFill>
                  <a:srgbClr val="292934"/>
                </a:solidFill>
                <a:latin typeface="Tahoma" pitchFamily="34" charset="0"/>
                <a:ea typeface="Tahoma" pitchFamily="34" charset="-122"/>
                <a:cs typeface="Tahoma" pitchFamily="34" charset="-120"/>
              </a:rPr>
              <a:t>Yulisa Medrano</a:t>
            </a:r>
            <a:endParaRPr lang="en-US" sz="1600" dirty="0"/>
          </a:p>
          <a:p>
            <a:pPr marL="0" indent="0">
              <a:spcAft>
                <a:spcPts val="400"/>
              </a:spcAft>
              <a:buNone/>
            </a:pPr>
            <a:r>
              <a:rPr lang="en-US" sz="1600" dirty="0">
                <a:solidFill>
                  <a:srgbClr val="292934"/>
                </a:solidFill>
                <a:latin typeface="Tahoma" pitchFamily="34" charset="0"/>
                <a:ea typeface="Tahoma" pitchFamily="34" charset="-122"/>
                <a:cs typeface="Tahoma" pitchFamily="34" charset="-120"/>
              </a:rPr>
              <a:t>Ashley Poppa</a:t>
            </a:r>
            <a:endParaRPr lang="en-US" sz="1600" dirty="0"/>
          </a:p>
          <a:p>
            <a:pPr marL="0" indent="0">
              <a:spcAft>
                <a:spcPts val="400"/>
              </a:spcAft>
              <a:buNone/>
            </a:pPr>
            <a:r>
              <a:rPr lang="en-US" sz="1600" dirty="0">
                <a:solidFill>
                  <a:srgbClr val="292934"/>
                </a:solidFill>
                <a:latin typeface="Tahoma" pitchFamily="34" charset="0"/>
                <a:ea typeface="Tahoma" pitchFamily="34" charset="-122"/>
                <a:cs typeface="Tahoma" pitchFamily="34" charset="-120"/>
              </a:rPr>
              <a:t>Sai Donepudi</a:t>
            </a:r>
            <a:endParaRPr lang="en-US" sz="1600" dirty="0"/>
          </a:p>
        </p:txBody>
      </p:sp>
      <p:sp>
        <p:nvSpPr>
          <p:cNvPr id="6" name="Shape 4"/>
          <p:cNvSpPr/>
          <p:nvPr/>
        </p:nvSpPr>
        <p:spPr>
          <a:xfrm>
            <a:off x="5257800" y="1600200"/>
            <a:ext cx="3291840" cy="0"/>
          </a:xfrm>
          <a:prstGeom prst="line">
            <a:avLst/>
          </a:prstGeom>
          <a:noFill/>
          <a:ln w="22225">
            <a:solidFill>
              <a:srgbClr val="292934"/>
            </a:solidFill>
            <a:prstDash val="solid"/>
            <a:tailEnd type="none"/>
          </a:ln>
        </p:spPr>
        <p:txBody>
          <a:bodyPr/>
          <a:lstStyle/>
          <a:p>
            <a:endParaRPr lang="en-US"/>
          </a:p>
        </p:txBody>
      </p:sp>
      <p:sp>
        <p:nvSpPr>
          <p:cNvPr id="7" name="Shape 5"/>
          <p:cNvSpPr/>
          <p:nvPr/>
        </p:nvSpPr>
        <p:spPr>
          <a:xfrm>
            <a:off x="5257800" y="3337560"/>
            <a:ext cx="3291840" cy="0"/>
          </a:xfrm>
          <a:prstGeom prst="line">
            <a:avLst/>
          </a:prstGeom>
          <a:noFill/>
          <a:ln w="22225">
            <a:solidFill>
              <a:srgbClr val="292934"/>
            </a:solidFill>
            <a:prstDash val="solid"/>
            <a:tailEnd type="none"/>
          </a:ln>
        </p:spPr>
        <p:txBody>
          <a:bodyPr/>
          <a:lstStyle/>
          <a:p>
            <a:endParaRPr lang="en-US"/>
          </a:p>
        </p:txBody>
      </p:sp>
      <p:sp>
        <p:nvSpPr>
          <p:cNvPr id="8" name="Shape 6"/>
          <p:cNvSpPr/>
          <p:nvPr/>
        </p:nvSpPr>
        <p:spPr>
          <a:xfrm>
            <a:off x="5257800" y="1600200"/>
            <a:ext cx="0" cy="1737360"/>
          </a:xfrm>
          <a:prstGeom prst="line">
            <a:avLst/>
          </a:prstGeom>
          <a:noFill/>
          <a:ln w="22225">
            <a:solidFill>
              <a:srgbClr val="292934"/>
            </a:solidFill>
            <a:prstDash val="solid"/>
            <a:tailEnd type="none"/>
          </a:ln>
        </p:spPr>
        <p:txBody>
          <a:bodyPr/>
          <a:lstStyle/>
          <a:p>
            <a:endParaRPr lang="en-US"/>
          </a:p>
        </p:txBody>
      </p:sp>
      <p:sp>
        <p:nvSpPr>
          <p:cNvPr id="9" name="Shape 7"/>
          <p:cNvSpPr/>
          <p:nvPr/>
        </p:nvSpPr>
        <p:spPr>
          <a:xfrm>
            <a:off x="6355080" y="1600200"/>
            <a:ext cx="0" cy="685800"/>
          </a:xfrm>
          <a:prstGeom prst="line">
            <a:avLst/>
          </a:prstGeom>
          <a:noFill/>
          <a:ln w="22225">
            <a:solidFill>
              <a:srgbClr val="292934"/>
            </a:solidFill>
            <a:prstDash val="solid"/>
            <a:tailEnd type="none"/>
          </a:ln>
        </p:spPr>
        <p:txBody>
          <a:bodyPr/>
          <a:lstStyle/>
          <a:p>
            <a:endParaRPr lang="en-US"/>
          </a:p>
        </p:txBody>
      </p:sp>
      <p:sp>
        <p:nvSpPr>
          <p:cNvPr id="10" name="Shape 8"/>
          <p:cNvSpPr/>
          <p:nvPr/>
        </p:nvSpPr>
        <p:spPr>
          <a:xfrm>
            <a:off x="6355080" y="2651760"/>
            <a:ext cx="0" cy="685800"/>
          </a:xfrm>
          <a:prstGeom prst="line">
            <a:avLst/>
          </a:prstGeom>
          <a:noFill/>
          <a:ln w="22225">
            <a:solidFill>
              <a:srgbClr val="292934"/>
            </a:solidFill>
            <a:prstDash val="solid"/>
            <a:tailEnd type="none"/>
          </a:ln>
        </p:spPr>
        <p:txBody>
          <a:bodyPr/>
          <a:lstStyle/>
          <a:p>
            <a:endParaRPr lang="en-US"/>
          </a:p>
        </p:txBody>
      </p:sp>
      <p:sp>
        <p:nvSpPr>
          <p:cNvPr id="11" name="Shape 9"/>
          <p:cNvSpPr/>
          <p:nvPr/>
        </p:nvSpPr>
        <p:spPr>
          <a:xfrm>
            <a:off x="6355080" y="2286000"/>
            <a:ext cx="0" cy="365760"/>
          </a:xfrm>
          <a:prstGeom prst="line">
            <a:avLst/>
          </a:prstGeom>
          <a:noFill/>
          <a:ln w="19050">
            <a:solidFill>
              <a:srgbClr val="C00000"/>
            </a:solidFill>
            <a:prstDash val="sysDash"/>
            <a:tailEnd type="none"/>
          </a:ln>
        </p:spPr>
        <p:txBody>
          <a:bodyPr/>
          <a:lstStyle/>
          <a:p>
            <a:endParaRPr lang="en-US"/>
          </a:p>
        </p:txBody>
      </p:sp>
      <p:sp>
        <p:nvSpPr>
          <p:cNvPr id="12" name="Shape 10"/>
          <p:cNvSpPr/>
          <p:nvPr/>
        </p:nvSpPr>
        <p:spPr>
          <a:xfrm>
            <a:off x="7452360" y="1600200"/>
            <a:ext cx="0" cy="685800"/>
          </a:xfrm>
          <a:prstGeom prst="line">
            <a:avLst/>
          </a:prstGeom>
          <a:noFill/>
          <a:ln w="22225">
            <a:solidFill>
              <a:srgbClr val="292934"/>
            </a:solidFill>
            <a:prstDash val="solid"/>
            <a:tailEnd type="none"/>
          </a:ln>
        </p:spPr>
        <p:txBody>
          <a:bodyPr/>
          <a:lstStyle/>
          <a:p>
            <a:endParaRPr lang="en-US"/>
          </a:p>
        </p:txBody>
      </p:sp>
      <p:sp>
        <p:nvSpPr>
          <p:cNvPr id="13" name="Shape 11"/>
          <p:cNvSpPr/>
          <p:nvPr/>
        </p:nvSpPr>
        <p:spPr>
          <a:xfrm>
            <a:off x="7452360" y="2651760"/>
            <a:ext cx="0" cy="685800"/>
          </a:xfrm>
          <a:prstGeom prst="line">
            <a:avLst/>
          </a:prstGeom>
          <a:noFill/>
          <a:ln w="22225">
            <a:solidFill>
              <a:srgbClr val="292934"/>
            </a:solidFill>
            <a:prstDash val="solid"/>
            <a:tailEnd type="none"/>
          </a:ln>
        </p:spPr>
        <p:txBody>
          <a:bodyPr/>
          <a:lstStyle/>
          <a:p>
            <a:endParaRPr lang="en-US"/>
          </a:p>
        </p:txBody>
      </p:sp>
      <p:sp>
        <p:nvSpPr>
          <p:cNvPr id="14" name="Shape 12"/>
          <p:cNvSpPr/>
          <p:nvPr/>
        </p:nvSpPr>
        <p:spPr>
          <a:xfrm>
            <a:off x="7452360" y="2286000"/>
            <a:ext cx="0" cy="365760"/>
          </a:xfrm>
          <a:prstGeom prst="line">
            <a:avLst/>
          </a:prstGeom>
          <a:noFill/>
          <a:ln w="19050">
            <a:solidFill>
              <a:srgbClr val="C00000"/>
            </a:solidFill>
            <a:prstDash val="sysDash"/>
            <a:tailEnd type="none"/>
          </a:ln>
        </p:spPr>
        <p:txBody>
          <a:bodyPr/>
          <a:lstStyle/>
          <a:p>
            <a:endParaRPr lang="en-US"/>
          </a:p>
        </p:txBody>
      </p:sp>
      <p:sp>
        <p:nvSpPr>
          <p:cNvPr id="15" name="Shape 13"/>
          <p:cNvSpPr/>
          <p:nvPr/>
        </p:nvSpPr>
        <p:spPr>
          <a:xfrm>
            <a:off x="8549640" y="1600200"/>
            <a:ext cx="0" cy="685800"/>
          </a:xfrm>
          <a:prstGeom prst="line">
            <a:avLst/>
          </a:prstGeom>
          <a:noFill/>
          <a:ln w="22225">
            <a:solidFill>
              <a:srgbClr val="292934"/>
            </a:solidFill>
            <a:prstDash val="solid"/>
            <a:tailEnd type="none"/>
          </a:ln>
        </p:spPr>
        <p:txBody>
          <a:bodyPr/>
          <a:lstStyle/>
          <a:p>
            <a:endParaRPr lang="en-US"/>
          </a:p>
        </p:txBody>
      </p:sp>
      <p:sp>
        <p:nvSpPr>
          <p:cNvPr id="16" name="Shape 14"/>
          <p:cNvSpPr/>
          <p:nvPr/>
        </p:nvSpPr>
        <p:spPr>
          <a:xfrm>
            <a:off x="8549640" y="2651760"/>
            <a:ext cx="0" cy="685800"/>
          </a:xfrm>
          <a:prstGeom prst="line">
            <a:avLst/>
          </a:prstGeom>
          <a:noFill/>
          <a:ln w="22225">
            <a:solidFill>
              <a:srgbClr val="292934"/>
            </a:solidFill>
            <a:prstDash val="solid"/>
            <a:tailEnd type="none"/>
          </a:ln>
        </p:spPr>
        <p:txBody>
          <a:bodyPr/>
          <a:lstStyle/>
          <a:p>
            <a:endParaRPr lang="en-US"/>
          </a:p>
        </p:txBody>
      </p:sp>
      <p:sp>
        <p:nvSpPr>
          <p:cNvPr id="17" name="Shape 15"/>
          <p:cNvSpPr/>
          <p:nvPr/>
        </p:nvSpPr>
        <p:spPr>
          <a:xfrm>
            <a:off x="5394960" y="2240280"/>
            <a:ext cx="182880" cy="182880"/>
          </a:xfrm>
          <a:prstGeom prst="rect">
            <a:avLst/>
          </a:prstGeom>
          <a:ln w="12700">
            <a:solidFill>
              <a:srgbClr val="BFBFBF"/>
            </a:solidFill>
            <a:prstDash val="solid"/>
          </a:ln>
        </p:spPr>
        <p:txBody>
          <a:bodyPr/>
          <a:lstStyle/>
          <a:p>
            <a:endParaRPr lang="en-US"/>
          </a:p>
        </p:txBody>
      </p:sp>
      <p:sp>
        <p:nvSpPr>
          <p:cNvPr id="18" name="Shape 16"/>
          <p:cNvSpPr/>
          <p:nvPr/>
        </p:nvSpPr>
        <p:spPr>
          <a:xfrm>
            <a:off x="6062472" y="2743200"/>
            <a:ext cx="182880" cy="182880"/>
          </a:xfrm>
          <a:prstGeom prst="rect">
            <a:avLst/>
          </a:prstGeom>
          <a:ln w="12700">
            <a:solidFill>
              <a:srgbClr val="BFBFBF"/>
            </a:solidFill>
            <a:prstDash val="solid"/>
          </a:ln>
        </p:spPr>
        <p:txBody>
          <a:bodyPr/>
          <a:lstStyle/>
          <a:p>
            <a:endParaRPr lang="en-US"/>
          </a:p>
        </p:txBody>
      </p:sp>
      <p:sp>
        <p:nvSpPr>
          <p:cNvPr id="19" name="Shape 17"/>
          <p:cNvSpPr/>
          <p:nvPr/>
        </p:nvSpPr>
        <p:spPr>
          <a:xfrm>
            <a:off x="6583680" y="1874520"/>
            <a:ext cx="182880" cy="182880"/>
          </a:xfrm>
          <a:prstGeom prst="rect">
            <a:avLst/>
          </a:prstGeom>
          <a:ln w="12700">
            <a:solidFill>
              <a:srgbClr val="BFBFBF"/>
            </a:solidFill>
            <a:prstDash val="solid"/>
          </a:ln>
        </p:spPr>
        <p:txBody>
          <a:bodyPr/>
          <a:lstStyle/>
          <a:p>
            <a:endParaRPr lang="en-US"/>
          </a:p>
        </p:txBody>
      </p:sp>
      <p:sp>
        <p:nvSpPr>
          <p:cNvPr id="20" name="Shape 18"/>
          <p:cNvSpPr/>
          <p:nvPr/>
        </p:nvSpPr>
        <p:spPr>
          <a:xfrm>
            <a:off x="7132320" y="1874520"/>
            <a:ext cx="182880" cy="182880"/>
          </a:xfrm>
          <a:prstGeom prst="rect">
            <a:avLst/>
          </a:prstGeom>
          <a:ln w="12700">
            <a:solidFill>
              <a:srgbClr val="BFBFBF"/>
            </a:solidFill>
            <a:prstDash val="solid"/>
          </a:ln>
        </p:spPr>
        <p:txBody>
          <a:bodyPr/>
          <a:lstStyle/>
          <a:p>
            <a:endParaRPr lang="en-US"/>
          </a:p>
        </p:txBody>
      </p:sp>
      <p:sp>
        <p:nvSpPr>
          <p:cNvPr id="21" name="Shape 19"/>
          <p:cNvSpPr/>
          <p:nvPr/>
        </p:nvSpPr>
        <p:spPr>
          <a:xfrm>
            <a:off x="7680960" y="2880360"/>
            <a:ext cx="182880" cy="182880"/>
          </a:xfrm>
          <a:prstGeom prst="rect">
            <a:avLst/>
          </a:prstGeom>
          <a:ln w="12700">
            <a:solidFill>
              <a:srgbClr val="BFBFBF"/>
            </a:solidFill>
            <a:prstDash val="solid"/>
          </a:ln>
        </p:spPr>
        <p:txBody>
          <a:bodyPr/>
          <a:lstStyle/>
          <a:p>
            <a:endParaRPr lang="en-US"/>
          </a:p>
        </p:txBody>
      </p:sp>
      <p:sp>
        <p:nvSpPr>
          <p:cNvPr id="22" name="Shape 20"/>
          <p:cNvSpPr/>
          <p:nvPr/>
        </p:nvSpPr>
        <p:spPr>
          <a:xfrm>
            <a:off x="8183880" y="2926080"/>
            <a:ext cx="182880" cy="182880"/>
          </a:xfrm>
          <a:prstGeom prst="rect">
            <a:avLst/>
          </a:prstGeom>
          <a:ln w="12700">
            <a:solidFill>
              <a:srgbClr val="BFBFBF"/>
            </a:solidFill>
            <a:prstDash val="solid"/>
          </a:ln>
        </p:spPr>
        <p:txBody>
          <a:bodyPr/>
          <a:lstStyle/>
          <a:p>
            <a:endParaRPr lang="en-US"/>
          </a:p>
        </p:txBody>
      </p:sp>
      <p:sp>
        <p:nvSpPr>
          <p:cNvPr id="23" name="Shape 21"/>
          <p:cNvSpPr/>
          <p:nvPr/>
        </p:nvSpPr>
        <p:spPr>
          <a:xfrm flipV="1">
            <a:off x="5486400" y="2011680"/>
            <a:ext cx="594360" cy="1051560"/>
          </a:xfrm>
          <a:prstGeom prst="line">
            <a:avLst/>
          </a:prstGeom>
          <a:noFill/>
          <a:ln w="15875">
            <a:solidFill>
              <a:srgbClr val="C00000"/>
            </a:solidFill>
            <a:prstDash val="solid"/>
            <a:tailEnd type="none"/>
          </a:ln>
        </p:spPr>
        <p:txBody>
          <a:bodyPr/>
          <a:lstStyle/>
          <a:p>
            <a:endParaRPr lang="en-US"/>
          </a:p>
        </p:txBody>
      </p:sp>
      <p:sp>
        <p:nvSpPr>
          <p:cNvPr id="24" name="Shape 22"/>
          <p:cNvSpPr/>
          <p:nvPr/>
        </p:nvSpPr>
        <p:spPr>
          <a:xfrm>
            <a:off x="6080760" y="2011680"/>
            <a:ext cx="274320" cy="457200"/>
          </a:xfrm>
          <a:prstGeom prst="line">
            <a:avLst/>
          </a:prstGeom>
          <a:noFill/>
          <a:ln w="15875">
            <a:solidFill>
              <a:srgbClr val="C00000"/>
            </a:solidFill>
            <a:prstDash val="solid"/>
            <a:tailEnd type="none"/>
          </a:ln>
        </p:spPr>
        <p:txBody>
          <a:bodyPr/>
          <a:lstStyle/>
          <a:p>
            <a:endParaRPr lang="en-US"/>
          </a:p>
        </p:txBody>
      </p:sp>
      <p:sp>
        <p:nvSpPr>
          <p:cNvPr id="25" name="Shape 23"/>
          <p:cNvSpPr/>
          <p:nvPr/>
        </p:nvSpPr>
        <p:spPr>
          <a:xfrm>
            <a:off x="6355080" y="2468880"/>
            <a:ext cx="548640" cy="457200"/>
          </a:xfrm>
          <a:prstGeom prst="line">
            <a:avLst/>
          </a:prstGeom>
          <a:noFill/>
          <a:ln w="15875">
            <a:solidFill>
              <a:srgbClr val="C00000"/>
            </a:solidFill>
            <a:prstDash val="solid"/>
            <a:tailEnd type="none"/>
          </a:ln>
        </p:spPr>
        <p:txBody>
          <a:bodyPr/>
          <a:lstStyle/>
          <a:p>
            <a:endParaRPr lang="en-US"/>
          </a:p>
        </p:txBody>
      </p:sp>
      <p:sp>
        <p:nvSpPr>
          <p:cNvPr id="26" name="Shape 24"/>
          <p:cNvSpPr/>
          <p:nvPr/>
        </p:nvSpPr>
        <p:spPr>
          <a:xfrm flipV="1">
            <a:off x="6903720" y="2468880"/>
            <a:ext cx="548640" cy="457200"/>
          </a:xfrm>
          <a:prstGeom prst="line">
            <a:avLst/>
          </a:prstGeom>
          <a:noFill/>
          <a:ln w="15875">
            <a:solidFill>
              <a:srgbClr val="C00000"/>
            </a:solidFill>
            <a:prstDash val="solid"/>
            <a:tailEnd type="none"/>
          </a:ln>
        </p:spPr>
        <p:txBody>
          <a:bodyPr/>
          <a:lstStyle/>
          <a:p>
            <a:endParaRPr lang="en-US"/>
          </a:p>
        </p:txBody>
      </p:sp>
      <p:sp>
        <p:nvSpPr>
          <p:cNvPr id="27" name="Shape 25"/>
          <p:cNvSpPr/>
          <p:nvPr/>
        </p:nvSpPr>
        <p:spPr>
          <a:xfrm flipV="1">
            <a:off x="7452360" y="2011680"/>
            <a:ext cx="548640" cy="457200"/>
          </a:xfrm>
          <a:prstGeom prst="line">
            <a:avLst/>
          </a:prstGeom>
          <a:noFill/>
          <a:ln w="15875">
            <a:solidFill>
              <a:srgbClr val="C00000"/>
            </a:solidFill>
            <a:prstDash val="solid"/>
            <a:tailEnd type="none"/>
          </a:ln>
        </p:spPr>
        <p:txBody>
          <a:bodyPr/>
          <a:lstStyle/>
          <a:p>
            <a:endParaRPr lang="en-US"/>
          </a:p>
        </p:txBody>
      </p:sp>
      <p:sp>
        <p:nvSpPr>
          <p:cNvPr id="28" name="Shape 26"/>
          <p:cNvSpPr/>
          <p:nvPr/>
        </p:nvSpPr>
        <p:spPr>
          <a:xfrm>
            <a:off x="8001000" y="2011680"/>
            <a:ext cx="548640" cy="457200"/>
          </a:xfrm>
          <a:prstGeom prst="line">
            <a:avLst/>
          </a:prstGeom>
          <a:noFill/>
          <a:ln w="15875">
            <a:solidFill>
              <a:srgbClr val="C00000"/>
            </a:solidFill>
            <a:prstDash val="solid"/>
            <a:tailEnd type="none"/>
          </a:ln>
        </p:spPr>
        <p:txBody>
          <a:bodyPr/>
          <a:lstStyle/>
          <a:p>
            <a:endParaRPr lang="en-US"/>
          </a:p>
        </p:txBody>
      </p:sp>
      <p:sp>
        <p:nvSpPr>
          <p:cNvPr id="29" name="Shape 27"/>
          <p:cNvSpPr/>
          <p:nvPr/>
        </p:nvSpPr>
        <p:spPr>
          <a:xfrm>
            <a:off x="8549640" y="2468880"/>
            <a:ext cx="274320" cy="0"/>
          </a:xfrm>
          <a:prstGeom prst="line">
            <a:avLst/>
          </a:prstGeom>
          <a:noFill/>
          <a:ln w="15875">
            <a:solidFill>
              <a:srgbClr val="C00000"/>
            </a:solidFill>
            <a:prstDash val="solid"/>
            <a:tailEnd type="triangle"/>
          </a:ln>
        </p:spPr>
        <p:txBody>
          <a:bodyPr/>
          <a:lstStyle/>
          <a:p>
            <a:endParaRPr lang="en-US"/>
          </a:p>
        </p:txBody>
      </p:sp>
      <p:sp>
        <p:nvSpPr>
          <p:cNvPr id="30" name="Shape 28"/>
          <p:cNvSpPr/>
          <p:nvPr/>
        </p:nvSpPr>
        <p:spPr>
          <a:xfrm>
            <a:off x="6039612" y="1970532"/>
            <a:ext cx="82296" cy="82296"/>
          </a:xfrm>
          <a:prstGeom prst="ellipse">
            <a:avLst/>
          </a:prstGeom>
          <a:solidFill>
            <a:srgbClr val="C00000"/>
          </a:solidFill>
          <a:ln w="15875">
            <a:solidFill>
              <a:srgbClr val="C00000"/>
            </a:solidFill>
            <a:prstDash val="solid"/>
          </a:ln>
        </p:spPr>
        <p:txBody>
          <a:bodyPr/>
          <a:lstStyle/>
          <a:p>
            <a:endParaRPr lang="en-US"/>
          </a:p>
        </p:txBody>
      </p:sp>
      <p:sp>
        <p:nvSpPr>
          <p:cNvPr id="31" name="Shape 29"/>
          <p:cNvSpPr/>
          <p:nvPr/>
        </p:nvSpPr>
        <p:spPr>
          <a:xfrm>
            <a:off x="6313932" y="2427732"/>
            <a:ext cx="82296" cy="82296"/>
          </a:xfrm>
          <a:prstGeom prst="ellipse">
            <a:avLst/>
          </a:prstGeom>
          <a:solidFill>
            <a:srgbClr val="C00000"/>
          </a:solidFill>
          <a:ln w="15875">
            <a:solidFill>
              <a:srgbClr val="C00000"/>
            </a:solidFill>
            <a:prstDash val="solid"/>
          </a:ln>
        </p:spPr>
        <p:txBody>
          <a:bodyPr/>
          <a:lstStyle/>
          <a:p>
            <a:endParaRPr lang="en-US"/>
          </a:p>
        </p:txBody>
      </p:sp>
      <p:sp>
        <p:nvSpPr>
          <p:cNvPr id="32" name="Shape 30"/>
          <p:cNvSpPr/>
          <p:nvPr/>
        </p:nvSpPr>
        <p:spPr>
          <a:xfrm>
            <a:off x="6862572" y="2884932"/>
            <a:ext cx="82296" cy="82296"/>
          </a:xfrm>
          <a:prstGeom prst="ellipse">
            <a:avLst/>
          </a:prstGeom>
          <a:solidFill>
            <a:srgbClr val="C00000"/>
          </a:solidFill>
          <a:ln w="15875">
            <a:solidFill>
              <a:srgbClr val="C00000"/>
            </a:solidFill>
            <a:prstDash val="solid"/>
          </a:ln>
        </p:spPr>
        <p:txBody>
          <a:bodyPr/>
          <a:lstStyle/>
          <a:p>
            <a:endParaRPr lang="en-US"/>
          </a:p>
        </p:txBody>
      </p:sp>
      <p:sp>
        <p:nvSpPr>
          <p:cNvPr id="33" name="Shape 31"/>
          <p:cNvSpPr/>
          <p:nvPr/>
        </p:nvSpPr>
        <p:spPr>
          <a:xfrm>
            <a:off x="7411212" y="2427732"/>
            <a:ext cx="82296" cy="82296"/>
          </a:xfrm>
          <a:prstGeom prst="ellipse">
            <a:avLst/>
          </a:prstGeom>
          <a:solidFill>
            <a:srgbClr val="C00000"/>
          </a:solidFill>
          <a:ln w="15875">
            <a:solidFill>
              <a:srgbClr val="C00000"/>
            </a:solidFill>
            <a:prstDash val="solid"/>
          </a:ln>
        </p:spPr>
        <p:txBody>
          <a:bodyPr/>
          <a:lstStyle/>
          <a:p>
            <a:endParaRPr lang="en-US"/>
          </a:p>
        </p:txBody>
      </p:sp>
      <p:sp>
        <p:nvSpPr>
          <p:cNvPr id="34" name="Shape 32"/>
          <p:cNvSpPr/>
          <p:nvPr/>
        </p:nvSpPr>
        <p:spPr>
          <a:xfrm>
            <a:off x="7959852" y="1970532"/>
            <a:ext cx="82296" cy="82296"/>
          </a:xfrm>
          <a:prstGeom prst="ellipse">
            <a:avLst/>
          </a:prstGeom>
          <a:solidFill>
            <a:srgbClr val="C00000"/>
          </a:solidFill>
          <a:ln w="15875">
            <a:solidFill>
              <a:srgbClr val="C00000"/>
            </a:solidFill>
            <a:prstDash val="solid"/>
          </a:ln>
        </p:spPr>
        <p:txBody>
          <a:bodyPr/>
          <a:lstStyle/>
          <a:p>
            <a:endParaRPr lang="en-US"/>
          </a:p>
        </p:txBody>
      </p:sp>
      <p:sp>
        <p:nvSpPr>
          <p:cNvPr id="35" name="Shape 33"/>
          <p:cNvSpPr/>
          <p:nvPr/>
        </p:nvSpPr>
        <p:spPr>
          <a:xfrm>
            <a:off x="8508492" y="2427732"/>
            <a:ext cx="82296" cy="82296"/>
          </a:xfrm>
          <a:prstGeom prst="ellipse">
            <a:avLst/>
          </a:prstGeom>
          <a:solidFill>
            <a:srgbClr val="C00000"/>
          </a:solidFill>
          <a:ln w="15875">
            <a:solidFill>
              <a:srgbClr val="C00000"/>
            </a:solidFill>
            <a:prstDash val="solid"/>
          </a:ln>
        </p:spPr>
        <p:txBody>
          <a:bodyPr/>
          <a:lstStyle/>
          <a:p>
            <a:endParaRPr lang="en-US"/>
          </a:p>
        </p:txBody>
      </p:sp>
      <p:sp>
        <p:nvSpPr>
          <p:cNvPr id="36" name="Shape 34"/>
          <p:cNvSpPr/>
          <p:nvPr/>
        </p:nvSpPr>
        <p:spPr>
          <a:xfrm>
            <a:off x="5413248" y="2990088"/>
            <a:ext cx="146304" cy="146304"/>
          </a:xfrm>
          <a:prstGeom prst="ellipse">
            <a:avLst/>
          </a:prstGeom>
          <a:solidFill>
            <a:srgbClr val="292934"/>
          </a:solidFill>
          <a:ln w="15875">
            <a:solidFill>
              <a:srgbClr val="292934"/>
            </a:solidFill>
            <a:prstDash val="solid"/>
          </a:ln>
        </p:spPr>
        <p:txBody>
          <a:bodyPr/>
          <a:lstStyle/>
          <a:p>
            <a:endParaRPr lang="en-US"/>
          </a:p>
        </p:txBody>
      </p:sp>
      <p:sp>
        <p:nvSpPr>
          <p:cNvPr id="37" name="Shape 35"/>
          <p:cNvSpPr/>
          <p:nvPr/>
        </p:nvSpPr>
        <p:spPr>
          <a:xfrm>
            <a:off x="5998464" y="1929384"/>
            <a:ext cx="164592" cy="164592"/>
          </a:xfrm>
          <a:prstGeom prst="ellipse">
            <a:avLst/>
          </a:prstGeom>
          <a:solidFill>
            <a:srgbClr val="C00000"/>
          </a:solidFill>
          <a:ln w="15875">
            <a:solidFill>
              <a:srgbClr val="C00000"/>
            </a:solidFill>
            <a:prstDash val="solid"/>
          </a:ln>
        </p:spPr>
        <p:txBody>
          <a:bodyPr/>
          <a:lstStyle/>
          <a:p>
            <a:endParaRPr lang="en-US"/>
          </a:p>
        </p:txBody>
      </p:sp>
      <p:sp>
        <p:nvSpPr>
          <p:cNvPr id="38" name="Text 36"/>
          <p:cNvSpPr txBox="1"/>
          <p:nvPr/>
        </p:nvSpPr>
        <p:spPr>
          <a:xfrm>
            <a:off x="5943600" y="1682496"/>
            <a:ext cx="274320" cy="219456"/>
          </a:xfrm>
          <a:prstGeom prst="rect">
            <a:avLst/>
          </a:prstGeom>
          <a:noFill/>
          <a:ln/>
        </p:spPr>
        <p:txBody>
          <a:bodyPr wrap="square" lIns="0" tIns="0" rIns="0" bIns="0" rtlCol="0" anchor="ctr"/>
          <a:lstStyle/>
          <a:p>
            <a:pPr marL="0" indent="0" algn="ctr">
              <a:buNone/>
            </a:pPr>
            <a:r>
              <a:rPr lang="en-US" sz="1100" b="1">
                <a:solidFill>
                  <a:srgbClr val="C00000"/>
                </a:solidFill>
                <a:latin typeface="Tahoma" pitchFamily="34" charset="0"/>
                <a:ea typeface="Tahoma" pitchFamily="34" charset="-122"/>
                <a:cs typeface="Tahoma" pitchFamily="34" charset="-120"/>
              </a:rPr>
              <a:t>L1</a:t>
            </a:r>
            <a:endParaRPr lang="en-US" sz="1100"/>
          </a:p>
        </p:txBody>
      </p:sp>
      <p:sp>
        <p:nvSpPr>
          <p:cNvPr id="39" name="Shape 37"/>
          <p:cNvSpPr/>
          <p:nvPr/>
        </p:nvSpPr>
        <p:spPr>
          <a:xfrm>
            <a:off x="6821424" y="2843784"/>
            <a:ext cx="164592" cy="164592"/>
          </a:xfrm>
          <a:prstGeom prst="ellipse">
            <a:avLst/>
          </a:prstGeom>
          <a:solidFill>
            <a:srgbClr val="C00000"/>
          </a:solidFill>
          <a:ln w="15875">
            <a:solidFill>
              <a:srgbClr val="C00000"/>
            </a:solidFill>
            <a:prstDash val="solid"/>
          </a:ln>
        </p:spPr>
        <p:txBody>
          <a:bodyPr/>
          <a:lstStyle/>
          <a:p>
            <a:endParaRPr lang="en-US"/>
          </a:p>
        </p:txBody>
      </p:sp>
      <p:sp>
        <p:nvSpPr>
          <p:cNvPr id="40" name="Text 38"/>
          <p:cNvSpPr txBox="1"/>
          <p:nvPr/>
        </p:nvSpPr>
        <p:spPr>
          <a:xfrm>
            <a:off x="6766560" y="3017520"/>
            <a:ext cx="274320" cy="219456"/>
          </a:xfrm>
          <a:prstGeom prst="rect">
            <a:avLst/>
          </a:prstGeom>
          <a:noFill/>
          <a:ln/>
        </p:spPr>
        <p:txBody>
          <a:bodyPr wrap="square" lIns="0" tIns="0" rIns="0" bIns="0" rtlCol="0" anchor="ctr"/>
          <a:lstStyle/>
          <a:p>
            <a:pPr marL="0" indent="0" algn="ctr">
              <a:buNone/>
            </a:pPr>
            <a:r>
              <a:rPr lang="en-US" sz="1100" b="1">
                <a:solidFill>
                  <a:srgbClr val="C00000"/>
                </a:solidFill>
                <a:latin typeface="Tahoma" pitchFamily="34" charset="0"/>
                <a:ea typeface="Tahoma" pitchFamily="34" charset="-122"/>
                <a:cs typeface="Tahoma" pitchFamily="34" charset="-120"/>
              </a:rPr>
              <a:t>L2</a:t>
            </a:r>
            <a:endParaRPr lang="en-US" sz="1100"/>
          </a:p>
        </p:txBody>
      </p:sp>
      <p:sp>
        <p:nvSpPr>
          <p:cNvPr id="41" name="Shape 39"/>
          <p:cNvSpPr/>
          <p:nvPr/>
        </p:nvSpPr>
        <p:spPr>
          <a:xfrm>
            <a:off x="7918704" y="1929384"/>
            <a:ext cx="164592" cy="164592"/>
          </a:xfrm>
          <a:prstGeom prst="ellipse">
            <a:avLst/>
          </a:prstGeom>
          <a:solidFill>
            <a:srgbClr val="C00000"/>
          </a:solidFill>
          <a:ln w="15875">
            <a:solidFill>
              <a:srgbClr val="C00000"/>
            </a:solidFill>
            <a:prstDash val="solid"/>
          </a:ln>
        </p:spPr>
        <p:txBody>
          <a:bodyPr/>
          <a:lstStyle/>
          <a:p>
            <a:endParaRPr lang="en-US"/>
          </a:p>
        </p:txBody>
      </p:sp>
      <p:sp>
        <p:nvSpPr>
          <p:cNvPr id="42" name="Text 40"/>
          <p:cNvSpPr txBox="1"/>
          <p:nvPr/>
        </p:nvSpPr>
        <p:spPr>
          <a:xfrm>
            <a:off x="7863840" y="1682496"/>
            <a:ext cx="274320" cy="219456"/>
          </a:xfrm>
          <a:prstGeom prst="rect">
            <a:avLst/>
          </a:prstGeom>
          <a:noFill/>
          <a:ln/>
        </p:spPr>
        <p:txBody>
          <a:bodyPr wrap="square" lIns="0" tIns="0" rIns="0" bIns="0" rtlCol="0" anchor="ctr"/>
          <a:lstStyle/>
          <a:p>
            <a:pPr marL="0" indent="0" algn="ctr">
              <a:buNone/>
            </a:pPr>
            <a:r>
              <a:rPr lang="en-US" sz="1100" b="1">
                <a:solidFill>
                  <a:srgbClr val="C00000"/>
                </a:solidFill>
                <a:latin typeface="Tahoma" pitchFamily="34" charset="0"/>
                <a:ea typeface="Tahoma" pitchFamily="34" charset="-122"/>
                <a:cs typeface="Tahoma" pitchFamily="34" charset="-120"/>
              </a:rPr>
              <a:t>L3</a:t>
            </a:r>
            <a:endParaRPr lang="en-US" sz="1100"/>
          </a:p>
        </p:txBody>
      </p:sp>
      <p:sp>
        <p:nvSpPr>
          <p:cNvPr id="43" name="Text 41"/>
          <p:cNvSpPr txBox="1"/>
          <p:nvPr/>
        </p:nvSpPr>
        <p:spPr>
          <a:xfrm>
            <a:off x="5257800" y="1319824"/>
            <a:ext cx="1097280" cy="228600"/>
          </a:xfrm>
          <a:prstGeom prst="rect">
            <a:avLst/>
          </a:prstGeom>
          <a:noFill/>
          <a:ln/>
        </p:spPr>
        <p:txBody>
          <a:bodyPr wrap="square" lIns="0" tIns="0" rIns="0" bIns="0" rtlCol="0" anchor="ctr"/>
          <a:lstStyle/>
          <a:p>
            <a:pPr marL="0" indent="0" algn="ctr">
              <a:buNone/>
            </a:pPr>
            <a:r>
              <a:rPr lang="en-US" sz="1100">
                <a:solidFill>
                  <a:srgbClr val="595959"/>
                </a:solidFill>
                <a:latin typeface="Tahoma" pitchFamily="34" charset="0"/>
                <a:ea typeface="Tahoma" pitchFamily="34" charset="-122"/>
                <a:cs typeface="Tahoma" pitchFamily="34" charset="-120"/>
              </a:rPr>
              <a:t>Room 1</a:t>
            </a:r>
            <a:endParaRPr lang="en-US" sz="1100"/>
          </a:p>
        </p:txBody>
      </p:sp>
      <p:sp>
        <p:nvSpPr>
          <p:cNvPr id="44" name="Text 42"/>
          <p:cNvSpPr txBox="1"/>
          <p:nvPr/>
        </p:nvSpPr>
        <p:spPr>
          <a:xfrm>
            <a:off x="6355080" y="1325880"/>
            <a:ext cx="1097280" cy="228600"/>
          </a:xfrm>
          <a:prstGeom prst="rect">
            <a:avLst/>
          </a:prstGeom>
          <a:noFill/>
          <a:ln/>
        </p:spPr>
        <p:txBody>
          <a:bodyPr wrap="square" lIns="0" tIns="0" rIns="0" bIns="0" rtlCol="0" anchor="ctr"/>
          <a:lstStyle/>
          <a:p>
            <a:pPr marL="0" indent="0" algn="ctr">
              <a:buNone/>
            </a:pPr>
            <a:r>
              <a:rPr lang="en-US" sz="1100">
                <a:solidFill>
                  <a:srgbClr val="595959"/>
                </a:solidFill>
                <a:latin typeface="Tahoma" pitchFamily="34" charset="0"/>
                <a:ea typeface="Tahoma" pitchFamily="34" charset="-122"/>
                <a:cs typeface="Tahoma" pitchFamily="34" charset="-120"/>
              </a:rPr>
              <a:t>Room 2</a:t>
            </a:r>
            <a:endParaRPr lang="en-US" sz="1100"/>
          </a:p>
        </p:txBody>
      </p:sp>
      <p:sp>
        <p:nvSpPr>
          <p:cNvPr id="45" name="Text 43"/>
          <p:cNvSpPr txBox="1"/>
          <p:nvPr/>
        </p:nvSpPr>
        <p:spPr>
          <a:xfrm>
            <a:off x="7452360" y="1325880"/>
            <a:ext cx="1097280" cy="228600"/>
          </a:xfrm>
          <a:prstGeom prst="rect">
            <a:avLst/>
          </a:prstGeom>
          <a:noFill/>
          <a:ln/>
        </p:spPr>
        <p:txBody>
          <a:bodyPr wrap="square" lIns="0" tIns="0" rIns="0" bIns="0" rtlCol="0" anchor="ctr"/>
          <a:lstStyle/>
          <a:p>
            <a:pPr marL="0" indent="0" algn="ctr">
              <a:buNone/>
            </a:pPr>
            <a:r>
              <a:rPr lang="en-US" sz="1100">
                <a:solidFill>
                  <a:srgbClr val="595959"/>
                </a:solidFill>
                <a:latin typeface="Tahoma" pitchFamily="34" charset="0"/>
                <a:ea typeface="Tahoma" pitchFamily="34" charset="-122"/>
                <a:cs typeface="Tahoma" pitchFamily="34" charset="-120"/>
              </a:rPr>
              <a:t>Room 3</a:t>
            </a:r>
            <a:endParaRPr lang="en-US" sz="1100"/>
          </a:p>
        </p:txBody>
      </p:sp>
      <p:sp>
        <p:nvSpPr>
          <p:cNvPr id="46" name="Text 44"/>
          <p:cNvSpPr txBox="1"/>
          <p:nvPr/>
        </p:nvSpPr>
        <p:spPr>
          <a:xfrm>
            <a:off x="5596128" y="2953512"/>
            <a:ext cx="457200" cy="219456"/>
          </a:xfrm>
          <a:prstGeom prst="rect">
            <a:avLst/>
          </a:prstGeom>
          <a:noFill/>
          <a:ln/>
        </p:spPr>
        <p:txBody>
          <a:bodyPr wrap="square" lIns="0" tIns="0" rIns="0" bIns="0" rtlCol="0" anchor="ctr"/>
          <a:lstStyle/>
          <a:p>
            <a:pPr marL="0" indent="0" algn="l">
              <a:buNone/>
            </a:pPr>
            <a:r>
              <a:rPr lang="en-US" sz="1100">
                <a:solidFill>
                  <a:srgbClr val="595959"/>
                </a:solidFill>
                <a:latin typeface="Tahoma" pitchFamily="34" charset="0"/>
                <a:ea typeface="Tahoma" pitchFamily="34" charset="-122"/>
                <a:cs typeface="Tahoma" pitchFamily="34" charset="-120"/>
              </a:rPr>
              <a:t>Start</a:t>
            </a:r>
            <a:endParaRPr lang="en-US" sz="1100"/>
          </a:p>
        </p:txBody>
      </p:sp>
      <p:sp>
        <p:nvSpPr>
          <p:cNvPr id="47" name="Text 45"/>
          <p:cNvSpPr txBox="1"/>
          <p:nvPr/>
        </p:nvSpPr>
        <p:spPr>
          <a:xfrm>
            <a:off x="8595360" y="2084832"/>
            <a:ext cx="411480" cy="219456"/>
          </a:xfrm>
          <a:prstGeom prst="rect">
            <a:avLst/>
          </a:prstGeom>
          <a:noFill/>
          <a:ln/>
        </p:spPr>
        <p:txBody>
          <a:bodyPr wrap="square" lIns="0" tIns="0" rIns="0" bIns="0" rtlCol="0" anchor="ctr"/>
          <a:lstStyle/>
          <a:p>
            <a:pPr marL="0" indent="0" algn="l">
              <a:buNone/>
            </a:pPr>
            <a:r>
              <a:rPr lang="en-US" sz="1100">
                <a:solidFill>
                  <a:srgbClr val="595959"/>
                </a:solidFill>
                <a:latin typeface="Tahoma" pitchFamily="34" charset="0"/>
                <a:ea typeface="Tahoma" pitchFamily="34" charset="-122"/>
                <a:cs typeface="Tahoma" pitchFamily="34" charset="-120"/>
              </a:rPr>
              <a:t>Exit</a:t>
            </a:r>
            <a:endParaRPr lang="en-US" sz="1100"/>
          </a:p>
        </p:txBody>
      </p:sp>
      <p:sp>
        <p:nvSpPr>
          <p:cNvPr id="48" name="Text 46"/>
          <p:cNvSpPr txBox="1"/>
          <p:nvPr/>
        </p:nvSpPr>
        <p:spPr>
          <a:xfrm>
            <a:off x="5257800" y="3447288"/>
            <a:ext cx="3566160" cy="411480"/>
          </a:xfrm>
          <a:prstGeom prst="rect">
            <a:avLst/>
          </a:prstGeom>
          <a:noFill/>
          <a:ln/>
        </p:spPr>
        <p:txBody>
          <a:bodyPr wrap="square" lIns="0" tIns="0" rIns="0" bIns="0" rtlCol="0" anchor="t"/>
          <a:lstStyle/>
          <a:p>
            <a:pPr marL="0" indent="0" algn="l">
              <a:buNone/>
            </a:pPr>
            <a:r>
              <a:rPr lang="en-US" sz="1100">
                <a:solidFill>
                  <a:srgbClr val="595959"/>
                </a:solidFill>
                <a:latin typeface="Tahoma" pitchFamily="34" charset="0"/>
                <a:ea typeface="Tahoma" pitchFamily="34" charset="-122"/>
                <a:cs typeface="Tahoma" pitchFamily="34" charset="-120"/>
              </a:rPr>
              <a:t>L = lever. Each lever opens the next gate (dashed); lever 3 unlocks the exit.</a:t>
            </a:r>
            <a:endParaRPr lang="en-US" sz="1100"/>
          </a:p>
        </p:txBody>
      </p:sp>
      <p:sp>
        <p:nvSpPr>
          <p:cNvPr id="49" name="Text 2">
            <a:extLst>
              <a:ext uri="{FF2B5EF4-FFF2-40B4-BE49-F238E27FC236}">
                <a16:creationId xmlns:a16="http://schemas.microsoft.com/office/drawing/2014/main" id="{E5488425-F540-F159-5A0F-C95A043F5710}"/>
              </a:ext>
            </a:extLst>
          </p:cNvPr>
          <p:cNvSpPr txBox="1"/>
          <p:nvPr/>
        </p:nvSpPr>
        <p:spPr>
          <a:xfrm>
            <a:off x="457200" y="982980"/>
            <a:ext cx="4663440" cy="274320"/>
          </a:xfrm>
          <a:prstGeom prst="rect">
            <a:avLst/>
          </a:prstGeom>
          <a:noFill/>
          <a:ln/>
        </p:spPr>
        <p:txBody>
          <a:bodyPr wrap="square" lIns="0" tIns="0" rIns="0" bIns="0" rtlCol="0" anchor="ctr"/>
          <a:lstStyle/>
          <a:p>
            <a:pPr marL="0" indent="0" algn="l">
              <a:buNone/>
            </a:pPr>
            <a:r>
              <a:rPr lang="en-US" sz="1200" dirty="0">
                <a:solidFill>
                  <a:srgbClr val="595959"/>
                </a:solidFill>
                <a:latin typeface="Tahoma" pitchFamily="34" charset="0"/>
                <a:ea typeface="Tahoma" pitchFamily="34" charset="-122"/>
                <a:cs typeface="Tahoma" pitchFamily="34" charset="-120"/>
              </a:rPr>
              <a:t>Team 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500">
                <a:solidFill>
                  <a:srgbClr val="292934"/>
                </a:solidFill>
                <a:latin typeface="Tahoma" pitchFamily="34" charset="0"/>
                <a:ea typeface="Tahoma" pitchFamily="34" charset="-122"/>
                <a:cs typeface="Tahoma" pitchFamily="34" charset="-120"/>
              </a:rPr>
              <a:t>Problem: VR movement forces a trade-off</a:t>
            </a:r>
            <a:endParaRPr lang="en-US" sz="2500"/>
          </a:p>
        </p:txBody>
      </p:sp>
      <p:sp>
        <p:nvSpPr>
          <p:cNvPr id="3" name="Bullets"/>
          <p:cNvSpPr txBox="1"/>
          <p:nvPr/>
        </p:nvSpPr>
        <p:spPr>
          <a:xfrm>
            <a:off x="457200" y="1051560"/>
            <a:ext cx="4480560" cy="3246120"/>
          </a:xfrm>
          <a:prstGeom prst="rect">
            <a:avLst/>
          </a:prstGeom>
          <a:noFill/>
          <a:ln/>
        </p:spPr>
        <p:txBody>
          <a:bodyPr wrap="square" lIns="0" tIns="0" rIns="0" bIns="0" rtlCol="0" anchor="t"/>
          <a:lstStyle/>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Worlds bigger than rooms</a:t>
            </a:r>
            <a:r>
              <a:rPr lang="en-US" sz="1600">
                <a:solidFill>
                  <a:srgbClr val="292934"/>
                </a:solidFill>
                <a:latin typeface="Tahoma" pitchFamily="34" charset="0"/>
                <a:ea typeface="Tahoma" pitchFamily="34" charset="-122"/>
                <a:cs typeface="Tahoma" pitchFamily="34" charset="-120"/>
              </a:rPr>
              <a:t> - every VR app needs an artificial way to move the user</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Joystick causes motion sickness</a:t>
            </a:r>
            <a:r>
              <a:rPr lang="en-US" sz="1600">
                <a:solidFill>
                  <a:srgbClr val="292934"/>
                </a:solidFill>
                <a:latin typeface="Tahoma" pitchFamily="34" charset="0"/>
                <a:ea typeface="Tahoma" pitchFamily="34" charset="-122"/>
                <a:cs typeface="Tahoma" pitchFamily="34" charset="-120"/>
              </a:rPr>
              <a:t> - the eyes see motion while the body sits still</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Teleport causes disorientation</a:t>
            </a:r>
            <a:r>
              <a:rPr lang="en-US" sz="1600">
                <a:solidFill>
                  <a:srgbClr val="292934"/>
                </a:solidFill>
                <a:latin typeface="Tahoma" pitchFamily="34" charset="0"/>
                <a:ea typeface="Tahoma" pitchFamily="34" charset="-122"/>
                <a:cs typeface="Tahoma" pitchFamily="34" charset="-120"/>
              </a:rPr>
              <a:t> - instant jumps remove the cues that tell you where you are</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Why it matters</a:t>
            </a:r>
            <a:r>
              <a:rPr lang="en-US" sz="1600">
                <a:solidFill>
                  <a:srgbClr val="292934"/>
                </a:solidFill>
                <a:latin typeface="Tahoma" pitchFamily="34" charset="0"/>
                <a:ea typeface="Tahoma" pitchFamily="34" charset="-122"/>
                <a:cs typeface="Tahoma" pitchFamily="34" charset="-120"/>
              </a:rPr>
              <a:t> - sick users quit and lost users waste time, in training, classes, games, and tours</a:t>
            </a:r>
            <a:endParaRPr lang="en-US" sz="1600"/>
          </a:p>
        </p:txBody>
      </p:sp>
      <p:sp>
        <p:nvSpPr>
          <p:cNvPr id="4" name="Text 2"/>
          <p:cNvSpPr txBox="1"/>
          <p:nvPr/>
        </p:nvSpPr>
        <p:spPr>
          <a:xfrm>
            <a:off x="5394960" y="1097280"/>
            <a:ext cx="3291840" cy="274320"/>
          </a:xfrm>
          <a:prstGeom prst="rect">
            <a:avLst/>
          </a:prstGeom>
          <a:noFill/>
          <a:ln/>
        </p:spPr>
        <p:txBody>
          <a:bodyPr wrap="square" lIns="0" tIns="0" rIns="0" bIns="0" rtlCol="0" anchor="ctr"/>
          <a:lstStyle/>
          <a:p>
            <a:pPr marL="0" indent="0" algn="l">
              <a:buNone/>
            </a:pPr>
            <a:r>
              <a:rPr lang="en-US" sz="1200" b="1">
                <a:solidFill>
                  <a:srgbClr val="292934"/>
                </a:solidFill>
                <a:latin typeface="Tahoma" pitchFamily="34" charset="0"/>
                <a:ea typeface="Tahoma" pitchFamily="34" charset="-122"/>
                <a:cs typeface="Tahoma" pitchFamily="34" charset="-120"/>
              </a:rPr>
              <a:t>Joystick</a:t>
            </a:r>
            <a:endParaRPr lang="en-US" sz="1200"/>
          </a:p>
        </p:txBody>
      </p:sp>
      <p:sp>
        <p:nvSpPr>
          <p:cNvPr id="5" name="Shape 3"/>
          <p:cNvSpPr/>
          <p:nvPr/>
        </p:nvSpPr>
        <p:spPr>
          <a:xfrm>
            <a:off x="5404104" y="1609344"/>
            <a:ext cx="164592" cy="164592"/>
          </a:xfrm>
          <a:prstGeom prst="ellipse">
            <a:avLst/>
          </a:prstGeom>
          <a:solidFill>
            <a:srgbClr val="292934"/>
          </a:solidFill>
          <a:ln w="15875">
            <a:solidFill>
              <a:srgbClr val="292934"/>
            </a:solidFill>
            <a:prstDash val="solid"/>
          </a:ln>
        </p:spPr>
        <p:txBody>
          <a:bodyPr/>
          <a:lstStyle/>
          <a:p>
            <a:endParaRPr lang="en-US"/>
          </a:p>
        </p:txBody>
      </p:sp>
      <p:sp>
        <p:nvSpPr>
          <p:cNvPr id="6" name="Shape 4"/>
          <p:cNvSpPr/>
          <p:nvPr/>
        </p:nvSpPr>
        <p:spPr>
          <a:xfrm>
            <a:off x="5577840" y="1691640"/>
            <a:ext cx="2926080" cy="0"/>
          </a:xfrm>
          <a:prstGeom prst="line">
            <a:avLst/>
          </a:prstGeom>
          <a:noFill/>
          <a:ln w="22225">
            <a:solidFill>
              <a:srgbClr val="292934"/>
            </a:solidFill>
            <a:prstDash val="solid"/>
            <a:tailEnd type="triangle"/>
          </a:ln>
        </p:spPr>
        <p:txBody>
          <a:bodyPr/>
          <a:lstStyle/>
          <a:p>
            <a:endParaRPr lang="en-US"/>
          </a:p>
        </p:txBody>
      </p:sp>
      <p:sp>
        <p:nvSpPr>
          <p:cNvPr id="7" name="Text 5"/>
          <p:cNvSpPr txBox="1"/>
          <p:nvPr/>
        </p:nvSpPr>
        <p:spPr>
          <a:xfrm>
            <a:off x="5394960" y="1828800"/>
            <a:ext cx="3291840" cy="457200"/>
          </a:xfrm>
          <a:prstGeom prst="rect">
            <a:avLst/>
          </a:prstGeom>
          <a:noFill/>
          <a:ln/>
        </p:spPr>
        <p:txBody>
          <a:bodyPr wrap="square" lIns="0" tIns="0" rIns="0" bIns="0" rtlCol="0" anchor="t"/>
          <a:lstStyle/>
          <a:p>
            <a:pPr marL="0" indent="0" algn="l">
              <a:buNone/>
            </a:pPr>
            <a:r>
              <a:rPr lang="en-US" sz="1100">
                <a:solidFill>
                  <a:srgbClr val="595959"/>
                </a:solidFill>
                <a:latin typeface="Tahoma" pitchFamily="34" charset="0"/>
                <a:ea typeface="Tahoma" pitchFamily="34" charset="-122"/>
                <a:cs typeface="Tahoma" pitchFamily="34" charset="-120"/>
              </a:rPr>
              <a:t>Continuous glide: you stay oriented, but it causes the most motion sickness</a:t>
            </a:r>
            <a:endParaRPr lang="en-US" sz="1100"/>
          </a:p>
        </p:txBody>
      </p:sp>
      <p:sp>
        <p:nvSpPr>
          <p:cNvPr id="8" name="Text 6"/>
          <p:cNvSpPr txBox="1"/>
          <p:nvPr/>
        </p:nvSpPr>
        <p:spPr>
          <a:xfrm>
            <a:off x="5394960" y="2697480"/>
            <a:ext cx="3291840" cy="274320"/>
          </a:xfrm>
          <a:prstGeom prst="rect">
            <a:avLst/>
          </a:prstGeom>
          <a:noFill/>
          <a:ln/>
        </p:spPr>
        <p:txBody>
          <a:bodyPr wrap="square" lIns="0" tIns="0" rIns="0" bIns="0" rtlCol="0" anchor="ctr"/>
          <a:lstStyle/>
          <a:p>
            <a:pPr marL="0" indent="0" algn="l">
              <a:buNone/>
            </a:pPr>
            <a:r>
              <a:rPr lang="en-US" sz="1200" b="1">
                <a:solidFill>
                  <a:srgbClr val="292934"/>
                </a:solidFill>
                <a:latin typeface="Tahoma" pitchFamily="34" charset="0"/>
                <a:ea typeface="Tahoma" pitchFamily="34" charset="-122"/>
                <a:cs typeface="Tahoma" pitchFamily="34" charset="-120"/>
              </a:rPr>
              <a:t>Teleport</a:t>
            </a:r>
            <a:endParaRPr lang="en-US" sz="1200"/>
          </a:p>
        </p:txBody>
      </p:sp>
      <p:sp>
        <p:nvSpPr>
          <p:cNvPr id="9" name="Shape 7"/>
          <p:cNvSpPr/>
          <p:nvPr/>
        </p:nvSpPr>
        <p:spPr>
          <a:xfrm>
            <a:off x="5404104" y="3209544"/>
            <a:ext cx="164592" cy="164592"/>
          </a:xfrm>
          <a:prstGeom prst="ellipse">
            <a:avLst/>
          </a:prstGeom>
          <a:solidFill>
            <a:srgbClr val="292934"/>
          </a:solidFill>
          <a:ln w="15875">
            <a:solidFill>
              <a:srgbClr val="292934"/>
            </a:solidFill>
            <a:prstDash val="solid"/>
          </a:ln>
        </p:spPr>
        <p:txBody>
          <a:bodyPr/>
          <a:lstStyle/>
          <a:p>
            <a:endParaRPr lang="en-US"/>
          </a:p>
        </p:txBody>
      </p:sp>
      <p:sp>
        <p:nvSpPr>
          <p:cNvPr id="10" name="Shape 8"/>
          <p:cNvSpPr/>
          <p:nvPr/>
        </p:nvSpPr>
        <p:spPr>
          <a:xfrm>
            <a:off x="5614416" y="3291840"/>
            <a:ext cx="521208" cy="0"/>
          </a:xfrm>
          <a:prstGeom prst="line">
            <a:avLst/>
          </a:prstGeom>
          <a:noFill/>
          <a:ln w="15875">
            <a:solidFill>
              <a:srgbClr val="595959"/>
            </a:solidFill>
            <a:prstDash val="sysDot"/>
            <a:tailEnd type="triangle"/>
          </a:ln>
        </p:spPr>
        <p:txBody>
          <a:bodyPr/>
          <a:lstStyle/>
          <a:p>
            <a:endParaRPr lang="en-US"/>
          </a:p>
        </p:txBody>
      </p:sp>
      <p:sp>
        <p:nvSpPr>
          <p:cNvPr id="11" name="Shape 9"/>
          <p:cNvSpPr/>
          <p:nvPr/>
        </p:nvSpPr>
        <p:spPr>
          <a:xfrm>
            <a:off x="6181344" y="3209544"/>
            <a:ext cx="164592" cy="164592"/>
          </a:xfrm>
          <a:prstGeom prst="ellipse">
            <a:avLst/>
          </a:prstGeom>
          <a:solidFill>
            <a:srgbClr val="FFFFFF"/>
          </a:solidFill>
          <a:ln w="15875">
            <a:solidFill>
              <a:srgbClr val="292934"/>
            </a:solidFill>
            <a:prstDash val="solid"/>
          </a:ln>
        </p:spPr>
        <p:txBody>
          <a:bodyPr/>
          <a:lstStyle/>
          <a:p>
            <a:endParaRPr lang="en-US"/>
          </a:p>
        </p:txBody>
      </p:sp>
      <p:sp>
        <p:nvSpPr>
          <p:cNvPr id="12" name="Shape 10"/>
          <p:cNvSpPr/>
          <p:nvPr/>
        </p:nvSpPr>
        <p:spPr>
          <a:xfrm>
            <a:off x="6391656" y="3291840"/>
            <a:ext cx="521208" cy="0"/>
          </a:xfrm>
          <a:prstGeom prst="line">
            <a:avLst/>
          </a:prstGeom>
          <a:noFill/>
          <a:ln w="15875">
            <a:solidFill>
              <a:srgbClr val="595959"/>
            </a:solidFill>
            <a:prstDash val="sysDot"/>
            <a:tailEnd type="triangle"/>
          </a:ln>
        </p:spPr>
        <p:txBody>
          <a:bodyPr/>
          <a:lstStyle/>
          <a:p>
            <a:endParaRPr lang="en-US"/>
          </a:p>
        </p:txBody>
      </p:sp>
      <p:sp>
        <p:nvSpPr>
          <p:cNvPr id="13" name="Shape 11"/>
          <p:cNvSpPr/>
          <p:nvPr/>
        </p:nvSpPr>
        <p:spPr>
          <a:xfrm>
            <a:off x="6958584" y="3209544"/>
            <a:ext cx="164592" cy="164592"/>
          </a:xfrm>
          <a:prstGeom prst="ellipse">
            <a:avLst/>
          </a:prstGeom>
          <a:solidFill>
            <a:srgbClr val="FFFFFF"/>
          </a:solidFill>
          <a:ln w="15875">
            <a:solidFill>
              <a:srgbClr val="292934"/>
            </a:solidFill>
            <a:prstDash val="solid"/>
          </a:ln>
        </p:spPr>
        <p:txBody>
          <a:bodyPr/>
          <a:lstStyle/>
          <a:p>
            <a:endParaRPr lang="en-US"/>
          </a:p>
        </p:txBody>
      </p:sp>
      <p:sp>
        <p:nvSpPr>
          <p:cNvPr id="14" name="Shape 12"/>
          <p:cNvSpPr/>
          <p:nvPr/>
        </p:nvSpPr>
        <p:spPr>
          <a:xfrm>
            <a:off x="7168896" y="3291840"/>
            <a:ext cx="521208" cy="0"/>
          </a:xfrm>
          <a:prstGeom prst="line">
            <a:avLst/>
          </a:prstGeom>
          <a:noFill/>
          <a:ln w="15875">
            <a:solidFill>
              <a:srgbClr val="595959"/>
            </a:solidFill>
            <a:prstDash val="sysDot"/>
            <a:tailEnd type="triangle"/>
          </a:ln>
        </p:spPr>
        <p:txBody>
          <a:bodyPr/>
          <a:lstStyle/>
          <a:p>
            <a:endParaRPr lang="en-US"/>
          </a:p>
        </p:txBody>
      </p:sp>
      <p:sp>
        <p:nvSpPr>
          <p:cNvPr id="15" name="Shape 13"/>
          <p:cNvSpPr/>
          <p:nvPr/>
        </p:nvSpPr>
        <p:spPr>
          <a:xfrm>
            <a:off x="7735824" y="3209544"/>
            <a:ext cx="164592" cy="164592"/>
          </a:xfrm>
          <a:prstGeom prst="ellipse">
            <a:avLst/>
          </a:prstGeom>
          <a:solidFill>
            <a:srgbClr val="FFFFFF"/>
          </a:solidFill>
          <a:ln w="15875">
            <a:solidFill>
              <a:srgbClr val="292934"/>
            </a:solidFill>
            <a:prstDash val="solid"/>
          </a:ln>
        </p:spPr>
        <p:txBody>
          <a:bodyPr/>
          <a:lstStyle/>
          <a:p>
            <a:endParaRPr lang="en-US"/>
          </a:p>
        </p:txBody>
      </p:sp>
      <p:sp>
        <p:nvSpPr>
          <p:cNvPr id="16" name="Shape 14"/>
          <p:cNvSpPr/>
          <p:nvPr/>
        </p:nvSpPr>
        <p:spPr>
          <a:xfrm>
            <a:off x="7946136" y="3291840"/>
            <a:ext cx="521208" cy="0"/>
          </a:xfrm>
          <a:prstGeom prst="line">
            <a:avLst/>
          </a:prstGeom>
          <a:noFill/>
          <a:ln w="15875">
            <a:solidFill>
              <a:srgbClr val="595959"/>
            </a:solidFill>
            <a:prstDash val="sysDot"/>
            <a:tailEnd type="triangle"/>
          </a:ln>
        </p:spPr>
        <p:txBody>
          <a:bodyPr/>
          <a:lstStyle/>
          <a:p>
            <a:endParaRPr lang="en-US"/>
          </a:p>
        </p:txBody>
      </p:sp>
      <p:sp>
        <p:nvSpPr>
          <p:cNvPr id="17" name="Shape 15"/>
          <p:cNvSpPr/>
          <p:nvPr/>
        </p:nvSpPr>
        <p:spPr>
          <a:xfrm>
            <a:off x="8513064" y="3209544"/>
            <a:ext cx="164592" cy="164592"/>
          </a:xfrm>
          <a:prstGeom prst="ellipse">
            <a:avLst/>
          </a:prstGeom>
          <a:solidFill>
            <a:srgbClr val="C00000"/>
          </a:solidFill>
          <a:ln w="15875">
            <a:solidFill>
              <a:srgbClr val="C00000"/>
            </a:solidFill>
            <a:prstDash val="solid"/>
          </a:ln>
        </p:spPr>
        <p:txBody>
          <a:bodyPr/>
          <a:lstStyle/>
          <a:p>
            <a:endParaRPr lang="en-US"/>
          </a:p>
        </p:txBody>
      </p:sp>
      <p:sp>
        <p:nvSpPr>
          <p:cNvPr id="18" name="Text 16"/>
          <p:cNvSpPr txBox="1"/>
          <p:nvPr/>
        </p:nvSpPr>
        <p:spPr>
          <a:xfrm>
            <a:off x="5394960" y="3429000"/>
            <a:ext cx="3291840" cy="457200"/>
          </a:xfrm>
          <a:prstGeom prst="rect">
            <a:avLst/>
          </a:prstGeom>
          <a:noFill/>
          <a:ln/>
        </p:spPr>
        <p:txBody>
          <a:bodyPr wrap="square" lIns="0" tIns="0" rIns="0" bIns="0" rtlCol="0" anchor="t"/>
          <a:lstStyle/>
          <a:p>
            <a:pPr marL="0" indent="0" algn="l">
              <a:buNone/>
            </a:pPr>
            <a:r>
              <a:rPr lang="en-US" sz="1100">
                <a:solidFill>
                  <a:srgbClr val="595959"/>
                </a:solidFill>
                <a:latin typeface="Tahoma" pitchFamily="34" charset="0"/>
                <a:ea typeface="Tahoma" pitchFamily="34" charset="-122"/>
                <a:cs typeface="Tahoma" pitchFamily="34" charset="-120"/>
              </a:rPr>
              <a:t>Instant jumps: comfortable, but you lose track of where you are</a:t>
            </a:r>
            <a:endParaRPr lang="en-US" sz="1100"/>
          </a:p>
        </p:txBody>
      </p:sp>
      <p:sp>
        <p:nvSpPr>
          <p:cNvPr id="19" name="Citation"/>
          <p:cNvSpPr txBox="1"/>
          <p:nvPr/>
        </p:nvSpPr>
        <p:spPr>
          <a:xfrm>
            <a:off x="457200" y="4407408"/>
            <a:ext cx="7863840" cy="566928"/>
          </a:xfrm>
          <a:prstGeom prst="rect">
            <a:avLst/>
          </a:prstGeom>
          <a:noFill/>
          <a:ln/>
        </p:spPr>
        <p:txBody>
          <a:bodyPr wrap="square" lIns="0" tIns="0" rIns="0" bIns="0" rtlCol="0" anchor="b"/>
          <a:lstStyle/>
          <a:p>
            <a:pPr marL="0" indent="0">
              <a:buNone/>
            </a:pPr>
            <a:r>
              <a:rPr lang="en-US" sz="1100" i="1">
                <a:solidFill>
                  <a:srgbClr val="595959"/>
                </a:solidFill>
                <a:latin typeface="Tahoma" pitchFamily="34" charset="0"/>
                <a:ea typeface="Tahoma" pitchFamily="34" charset="-122"/>
                <a:cs typeface="Tahoma" pitchFamily="34" charset="-120"/>
              </a:rPr>
              <a:t>Langbehn, E., Lubos, P., &amp; Steinicke, F. (2018). Evaluation of locomotion techniques for room-scale VR: Joystick, teleportation, and redirected walking. Proceedings of VRIC ’18. https://doi.org/10.1145/3234253.3234291</a:t>
            </a:r>
            <a:endParaRPr lang="en-US" sz="1100"/>
          </a:p>
        </p:txBody>
      </p:sp>
      <p:sp>
        <p:nvSpPr>
          <p:cNvPr id="25" name="Slide Number Placeholder 0"/>
          <p:cNvSpPr>
            <a:spLocks noGrp="1"/>
          </p:cNvSpPr>
          <p:nvPr>
            <p:ph type="sldNum" sz="quarter" idx="4294967295"/>
          </p:nvPr>
        </p:nvSpPr>
        <p:spPr>
          <a:xfrm>
            <a:off x="8412480" y="4800600"/>
            <a:ext cx="465072"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F7F7F"/>
                </a:solidFill>
                <a:latin typeface="Tahoma"/>
                <a:ea typeface="Tahoma"/>
                <a:cs typeface="Tahoma"/>
              </a:defRPr>
            </a:lvl1pPr>
          </a:lstStyle>
          <a:p>
            <a:pPr algn="r"/>
            <a:fld id="{F7021451-1387-4CA6-816F-3879F97B5CBC}" type="slidenum">
              <a:rPr lang="en-US" b="0" smtClean="0"/>
              <a:t>2</a:t>
            </a:fld>
            <a:r>
              <a:rPr lang="en-US" b="0" dirty="0"/>
              <a:t>/12</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500">
                <a:solidFill>
                  <a:srgbClr val="292934"/>
                </a:solidFill>
                <a:latin typeface="Tahoma" pitchFamily="34" charset="0"/>
                <a:ea typeface="Tahoma" pitchFamily="34" charset="-122"/>
                <a:cs typeface="Tahoma" pitchFamily="34" charset="-120"/>
              </a:rPr>
              <a:t>Prior work: both problems are well documented</a:t>
            </a:r>
            <a:endParaRPr lang="en-US" sz="2500"/>
          </a:p>
        </p:txBody>
      </p:sp>
      <p:sp>
        <p:nvSpPr>
          <p:cNvPr id="3" name="Bullets"/>
          <p:cNvSpPr txBox="1"/>
          <p:nvPr/>
        </p:nvSpPr>
        <p:spPr>
          <a:xfrm>
            <a:off x="457200" y="1051560"/>
            <a:ext cx="4572000" cy="3246120"/>
          </a:xfrm>
          <a:prstGeom prst="rect">
            <a:avLst/>
          </a:prstGeom>
          <a:noFill/>
          <a:ln/>
        </p:spPr>
        <p:txBody>
          <a:bodyPr wrap="square" lIns="0" tIns="0" rIns="0" bIns="0" rtlCol="0" anchor="t"/>
          <a:lstStyle/>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Teleport disorients users</a:t>
            </a:r>
            <a:r>
              <a:rPr lang="en-US" sz="1600">
                <a:solidFill>
                  <a:srgbClr val="292934"/>
                </a:solidFill>
                <a:latin typeface="Tahoma" pitchFamily="34" charset="0"/>
                <a:ea typeface="Tahoma" pitchFamily="34" charset="-122"/>
                <a:cs typeface="Tahoma" pitchFamily="34" charset="-120"/>
              </a:rPr>
              <a:t> - after instant jumps, users had to search for targets again (Bowman et al., 1997)</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Joystick causes most sickness</a:t>
            </a:r>
            <a:r>
              <a:rPr lang="en-US" sz="1600">
                <a:solidFill>
                  <a:srgbClr val="292934"/>
                </a:solidFill>
                <a:latin typeface="Tahoma" pitchFamily="34" charset="0"/>
                <a:ea typeface="Tahoma" pitchFamily="34" charset="-122"/>
                <a:cs typeface="Tahoma" pitchFamily="34" charset="-120"/>
              </a:rPr>
              <a:t> - found by Langbehn et al. (2018) and by Boletsis &amp; Cedergren (2019, N = 26)</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Walls only partly help</a:t>
            </a:r>
            <a:r>
              <a:rPr lang="en-US" sz="1600">
                <a:solidFill>
                  <a:srgbClr val="292934"/>
                </a:solidFill>
                <a:latin typeface="Tahoma" pitchFamily="34" charset="0"/>
                <a:ea typeface="Tahoma" pitchFamily="34" charset="-122"/>
                <a:cs typeface="Tahoma" pitchFamily="34" charset="-120"/>
              </a:rPr>
              <a:t> - boundaries reduced but did not remove teleport disorientation (Cherep et al., 2020)</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Cues guide wayfinding</a:t>
            </a:r>
            <a:r>
              <a:rPr lang="en-US" sz="1600">
                <a:solidFill>
                  <a:srgbClr val="292934"/>
                </a:solidFill>
                <a:latin typeface="Tahoma" pitchFamily="34" charset="0"/>
                <a:ea typeface="Tahoma" pitchFamily="34" charset="-122"/>
                <a:cs typeface="Tahoma" pitchFamily="34" charset="-120"/>
              </a:rPr>
              <a:t> - available cues shaped how people navigated virtual worlds (Darken &amp; Sibert, 1996)</a:t>
            </a:r>
            <a:endParaRPr lang="en-US" sz="1600"/>
          </a:p>
        </p:txBody>
      </p:sp>
      <p:sp>
        <p:nvSpPr>
          <p:cNvPr id="4" name="Shape 2"/>
          <p:cNvSpPr/>
          <p:nvPr/>
        </p:nvSpPr>
        <p:spPr>
          <a:xfrm>
            <a:off x="5715000" y="1280160"/>
            <a:ext cx="0" cy="2743200"/>
          </a:xfrm>
          <a:prstGeom prst="line">
            <a:avLst/>
          </a:prstGeom>
          <a:noFill/>
          <a:ln w="19050">
            <a:solidFill>
              <a:srgbClr val="BFBFBF"/>
            </a:solidFill>
            <a:prstDash val="solid"/>
            <a:tailEnd type="none"/>
          </a:ln>
        </p:spPr>
        <p:txBody>
          <a:bodyPr/>
          <a:lstStyle/>
          <a:p>
            <a:endParaRPr lang="en-US"/>
          </a:p>
        </p:txBody>
      </p:sp>
      <p:sp>
        <p:nvSpPr>
          <p:cNvPr id="5" name="Shape 3"/>
          <p:cNvSpPr/>
          <p:nvPr/>
        </p:nvSpPr>
        <p:spPr>
          <a:xfrm>
            <a:off x="5641848" y="1207008"/>
            <a:ext cx="146304" cy="146304"/>
          </a:xfrm>
          <a:prstGeom prst="ellipse">
            <a:avLst/>
          </a:prstGeom>
          <a:solidFill>
            <a:srgbClr val="FFFFFF"/>
          </a:solidFill>
          <a:ln w="15875">
            <a:solidFill>
              <a:srgbClr val="292934"/>
            </a:solidFill>
            <a:prstDash val="solid"/>
          </a:ln>
        </p:spPr>
        <p:txBody>
          <a:bodyPr/>
          <a:lstStyle/>
          <a:p>
            <a:endParaRPr lang="en-US"/>
          </a:p>
        </p:txBody>
      </p:sp>
      <p:sp>
        <p:nvSpPr>
          <p:cNvPr id="6" name="Text 4"/>
          <p:cNvSpPr txBox="1"/>
          <p:nvPr/>
        </p:nvSpPr>
        <p:spPr>
          <a:xfrm>
            <a:off x="5943600" y="1097280"/>
            <a:ext cx="548640" cy="228600"/>
          </a:xfrm>
          <a:prstGeom prst="rect">
            <a:avLst/>
          </a:prstGeom>
          <a:noFill/>
          <a:ln/>
        </p:spPr>
        <p:txBody>
          <a:bodyPr wrap="square" lIns="0" tIns="0" rIns="0" bIns="0" rtlCol="0" anchor="ctr"/>
          <a:lstStyle/>
          <a:p>
            <a:pPr marL="0" indent="0" algn="l">
              <a:buNone/>
            </a:pPr>
            <a:r>
              <a:rPr lang="en-US" sz="1200" b="1">
                <a:solidFill>
                  <a:srgbClr val="292934"/>
                </a:solidFill>
                <a:latin typeface="Tahoma" pitchFamily="34" charset="0"/>
                <a:ea typeface="Tahoma" pitchFamily="34" charset="-122"/>
                <a:cs typeface="Tahoma" pitchFamily="34" charset="-120"/>
              </a:rPr>
              <a:t>1996</a:t>
            </a:r>
            <a:endParaRPr lang="en-US" sz="1200"/>
          </a:p>
        </p:txBody>
      </p:sp>
      <p:sp>
        <p:nvSpPr>
          <p:cNvPr id="7" name="Text 5"/>
          <p:cNvSpPr txBox="1"/>
          <p:nvPr/>
        </p:nvSpPr>
        <p:spPr>
          <a:xfrm>
            <a:off x="6492240" y="1097280"/>
            <a:ext cx="2286000" cy="228600"/>
          </a:xfrm>
          <a:prstGeom prst="rect">
            <a:avLst/>
          </a:prstGeom>
          <a:noFill/>
          <a:ln/>
        </p:spPr>
        <p:txBody>
          <a:bodyPr wrap="square" lIns="0" tIns="0" rIns="0" bIns="0" rtlCol="0" anchor="ctr"/>
          <a:lstStyle/>
          <a:p>
            <a:pPr marL="0" indent="0" algn="l">
              <a:buNone/>
            </a:pPr>
            <a:r>
              <a:rPr lang="en-US" sz="1200">
                <a:solidFill>
                  <a:srgbClr val="292934"/>
                </a:solidFill>
                <a:latin typeface="Tahoma" pitchFamily="34" charset="0"/>
                <a:ea typeface="Tahoma" pitchFamily="34" charset="-122"/>
                <a:cs typeface="Tahoma" pitchFamily="34" charset="-120"/>
              </a:rPr>
              <a:t>Darken &amp; Sibert</a:t>
            </a:r>
            <a:endParaRPr lang="en-US" sz="1200"/>
          </a:p>
        </p:txBody>
      </p:sp>
      <p:sp>
        <p:nvSpPr>
          <p:cNvPr id="8" name="Text 6"/>
          <p:cNvSpPr txBox="1"/>
          <p:nvPr/>
        </p:nvSpPr>
        <p:spPr>
          <a:xfrm>
            <a:off x="6492240" y="1335024"/>
            <a:ext cx="2286000" cy="228600"/>
          </a:xfrm>
          <a:prstGeom prst="rect">
            <a:avLst/>
          </a:prstGeom>
          <a:noFill/>
          <a:ln/>
        </p:spPr>
        <p:txBody>
          <a:bodyPr wrap="square" lIns="0" tIns="0" rIns="0" bIns="0" rtlCol="0" anchor="ctr"/>
          <a:lstStyle/>
          <a:p>
            <a:pPr marL="0" indent="0" algn="l">
              <a:buNone/>
            </a:pPr>
            <a:r>
              <a:rPr lang="en-US" sz="1100">
                <a:solidFill>
                  <a:srgbClr val="595959"/>
                </a:solidFill>
                <a:latin typeface="Tahoma" pitchFamily="34" charset="0"/>
                <a:ea typeface="Tahoma" pitchFamily="34" charset="-122"/>
                <a:cs typeface="Tahoma" pitchFamily="34" charset="-120"/>
              </a:rPr>
              <a:t>Cues shape wayfinding</a:t>
            </a:r>
            <a:endParaRPr lang="en-US" sz="1100"/>
          </a:p>
        </p:txBody>
      </p:sp>
      <p:sp>
        <p:nvSpPr>
          <p:cNvPr id="9" name="Shape 7"/>
          <p:cNvSpPr/>
          <p:nvPr/>
        </p:nvSpPr>
        <p:spPr>
          <a:xfrm>
            <a:off x="5641848" y="1892808"/>
            <a:ext cx="146304" cy="146304"/>
          </a:xfrm>
          <a:prstGeom prst="ellipse">
            <a:avLst/>
          </a:prstGeom>
          <a:solidFill>
            <a:srgbClr val="FFFFFF"/>
          </a:solidFill>
          <a:ln w="15875">
            <a:solidFill>
              <a:srgbClr val="292934"/>
            </a:solidFill>
            <a:prstDash val="solid"/>
          </a:ln>
        </p:spPr>
        <p:txBody>
          <a:bodyPr/>
          <a:lstStyle/>
          <a:p>
            <a:endParaRPr lang="en-US"/>
          </a:p>
        </p:txBody>
      </p:sp>
      <p:sp>
        <p:nvSpPr>
          <p:cNvPr id="10" name="Text 8"/>
          <p:cNvSpPr txBox="1"/>
          <p:nvPr/>
        </p:nvSpPr>
        <p:spPr>
          <a:xfrm>
            <a:off x="5943600" y="1783080"/>
            <a:ext cx="548640" cy="228600"/>
          </a:xfrm>
          <a:prstGeom prst="rect">
            <a:avLst/>
          </a:prstGeom>
          <a:noFill/>
          <a:ln/>
        </p:spPr>
        <p:txBody>
          <a:bodyPr wrap="square" lIns="0" tIns="0" rIns="0" bIns="0" rtlCol="0" anchor="ctr"/>
          <a:lstStyle/>
          <a:p>
            <a:pPr marL="0" indent="0" algn="l">
              <a:buNone/>
            </a:pPr>
            <a:r>
              <a:rPr lang="en-US" sz="1200" b="1">
                <a:solidFill>
                  <a:srgbClr val="292934"/>
                </a:solidFill>
                <a:latin typeface="Tahoma" pitchFamily="34" charset="0"/>
                <a:ea typeface="Tahoma" pitchFamily="34" charset="-122"/>
                <a:cs typeface="Tahoma" pitchFamily="34" charset="-120"/>
              </a:rPr>
              <a:t>1997</a:t>
            </a:r>
            <a:endParaRPr lang="en-US" sz="1200"/>
          </a:p>
        </p:txBody>
      </p:sp>
      <p:sp>
        <p:nvSpPr>
          <p:cNvPr id="11" name="Text 9"/>
          <p:cNvSpPr txBox="1"/>
          <p:nvPr/>
        </p:nvSpPr>
        <p:spPr>
          <a:xfrm>
            <a:off x="6492240" y="1783080"/>
            <a:ext cx="2286000" cy="228600"/>
          </a:xfrm>
          <a:prstGeom prst="rect">
            <a:avLst/>
          </a:prstGeom>
          <a:noFill/>
          <a:ln/>
        </p:spPr>
        <p:txBody>
          <a:bodyPr wrap="square" lIns="0" tIns="0" rIns="0" bIns="0" rtlCol="0" anchor="ctr"/>
          <a:lstStyle/>
          <a:p>
            <a:pPr marL="0" indent="0" algn="l">
              <a:buNone/>
            </a:pPr>
            <a:r>
              <a:rPr lang="en-US" sz="1200">
                <a:solidFill>
                  <a:srgbClr val="292934"/>
                </a:solidFill>
                <a:latin typeface="Tahoma" pitchFamily="34" charset="0"/>
                <a:ea typeface="Tahoma" pitchFamily="34" charset="-122"/>
                <a:cs typeface="Tahoma" pitchFamily="34" charset="-120"/>
              </a:rPr>
              <a:t>Bowman et al.</a:t>
            </a:r>
            <a:endParaRPr lang="en-US" sz="1200"/>
          </a:p>
        </p:txBody>
      </p:sp>
      <p:sp>
        <p:nvSpPr>
          <p:cNvPr id="12" name="Text 10"/>
          <p:cNvSpPr txBox="1"/>
          <p:nvPr/>
        </p:nvSpPr>
        <p:spPr>
          <a:xfrm>
            <a:off x="6492240" y="2020824"/>
            <a:ext cx="2286000" cy="228600"/>
          </a:xfrm>
          <a:prstGeom prst="rect">
            <a:avLst/>
          </a:prstGeom>
          <a:noFill/>
          <a:ln/>
        </p:spPr>
        <p:txBody>
          <a:bodyPr wrap="square" lIns="0" tIns="0" rIns="0" bIns="0" rtlCol="0" anchor="ctr"/>
          <a:lstStyle/>
          <a:p>
            <a:pPr marL="0" indent="0" algn="l">
              <a:buNone/>
            </a:pPr>
            <a:r>
              <a:rPr lang="en-US" sz="1100">
                <a:solidFill>
                  <a:srgbClr val="595959"/>
                </a:solidFill>
                <a:latin typeface="Tahoma" pitchFamily="34" charset="0"/>
                <a:ea typeface="Tahoma" pitchFamily="34" charset="-122"/>
                <a:cs typeface="Tahoma" pitchFamily="34" charset="-120"/>
              </a:rPr>
              <a:t>Instant jumps disorient</a:t>
            </a:r>
            <a:endParaRPr lang="en-US" sz="1100"/>
          </a:p>
        </p:txBody>
      </p:sp>
      <p:sp>
        <p:nvSpPr>
          <p:cNvPr id="13" name="Shape 11"/>
          <p:cNvSpPr/>
          <p:nvPr/>
        </p:nvSpPr>
        <p:spPr>
          <a:xfrm>
            <a:off x="5641848" y="2578608"/>
            <a:ext cx="146304" cy="146304"/>
          </a:xfrm>
          <a:prstGeom prst="ellipse">
            <a:avLst/>
          </a:prstGeom>
          <a:solidFill>
            <a:srgbClr val="FFFFFF"/>
          </a:solidFill>
          <a:ln w="15875">
            <a:solidFill>
              <a:srgbClr val="292934"/>
            </a:solidFill>
            <a:prstDash val="solid"/>
          </a:ln>
        </p:spPr>
        <p:txBody>
          <a:bodyPr/>
          <a:lstStyle/>
          <a:p>
            <a:endParaRPr lang="en-US"/>
          </a:p>
        </p:txBody>
      </p:sp>
      <p:sp>
        <p:nvSpPr>
          <p:cNvPr id="14" name="Text 12"/>
          <p:cNvSpPr txBox="1"/>
          <p:nvPr/>
        </p:nvSpPr>
        <p:spPr>
          <a:xfrm>
            <a:off x="5943600" y="2468880"/>
            <a:ext cx="548640" cy="228600"/>
          </a:xfrm>
          <a:prstGeom prst="rect">
            <a:avLst/>
          </a:prstGeom>
          <a:noFill/>
          <a:ln/>
        </p:spPr>
        <p:txBody>
          <a:bodyPr wrap="square" lIns="0" tIns="0" rIns="0" bIns="0" rtlCol="0" anchor="ctr"/>
          <a:lstStyle/>
          <a:p>
            <a:pPr marL="0" indent="0" algn="l">
              <a:buNone/>
            </a:pPr>
            <a:r>
              <a:rPr lang="en-US" sz="1200" b="1">
                <a:solidFill>
                  <a:srgbClr val="292934"/>
                </a:solidFill>
                <a:latin typeface="Tahoma" pitchFamily="34" charset="0"/>
                <a:ea typeface="Tahoma" pitchFamily="34" charset="-122"/>
                <a:cs typeface="Tahoma" pitchFamily="34" charset="-120"/>
              </a:rPr>
              <a:t>2018</a:t>
            </a:r>
            <a:endParaRPr lang="en-US" sz="1200"/>
          </a:p>
        </p:txBody>
      </p:sp>
      <p:sp>
        <p:nvSpPr>
          <p:cNvPr id="15" name="Text 13"/>
          <p:cNvSpPr txBox="1"/>
          <p:nvPr/>
        </p:nvSpPr>
        <p:spPr>
          <a:xfrm>
            <a:off x="6492240" y="2468880"/>
            <a:ext cx="2286000" cy="228600"/>
          </a:xfrm>
          <a:prstGeom prst="rect">
            <a:avLst/>
          </a:prstGeom>
          <a:noFill/>
          <a:ln/>
        </p:spPr>
        <p:txBody>
          <a:bodyPr wrap="square" lIns="0" tIns="0" rIns="0" bIns="0" rtlCol="0" anchor="ctr"/>
          <a:lstStyle/>
          <a:p>
            <a:pPr marL="0" indent="0" algn="l">
              <a:buNone/>
            </a:pPr>
            <a:r>
              <a:rPr lang="en-US" sz="1200">
                <a:solidFill>
                  <a:srgbClr val="292934"/>
                </a:solidFill>
                <a:latin typeface="Tahoma" pitchFamily="34" charset="0"/>
                <a:ea typeface="Tahoma" pitchFamily="34" charset="-122"/>
                <a:cs typeface="Tahoma" pitchFamily="34" charset="-120"/>
              </a:rPr>
              <a:t>Langbehn et al.</a:t>
            </a:r>
            <a:endParaRPr lang="en-US" sz="1200"/>
          </a:p>
        </p:txBody>
      </p:sp>
      <p:sp>
        <p:nvSpPr>
          <p:cNvPr id="16" name="Text 14"/>
          <p:cNvSpPr txBox="1"/>
          <p:nvPr/>
        </p:nvSpPr>
        <p:spPr>
          <a:xfrm>
            <a:off x="6492240" y="2706624"/>
            <a:ext cx="2286000" cy="228600"/>
          </a:xfrm>
          <a:prstGeom prst="rect">
            <a:avLst/>
          </a:prstGeom>
          <a:noFill/>
          <a:ln/>
        </p:spPr>
        <p:txBody>
          <a:bodyPr wrap="square" lIns="0" tIns="0" rIns="0" bIns="0" rtlCol="0" anchor="ctr"/>
          <a:lstStyle/>
          <a:p>
            <a:pPr marL="0" indent="0" algn="l">
              <a:buNone/>
            </a:pPr>
            <a:r>
              <a:rPr lang="en-US" sz="1100">
                <a:solidFill>
                  <a:srgbClr val="595959"/>
                </a:solidFill>
                <a:latin typeface="Tahoma" pitchFamily="34" charset="0"/>
                <a:ea typeface="Tahoma" pitchFamily="34" charset="-122"/>
                <a:cs typeface="Tahoma" pitchFamily="34" charset="-120"/>
              </a:rPr>
              <a:t>Joystick: most sickness</a:t>
            </a:r>
            <a:endParaRPr lang="en-US" sz="1100"/>
          </a:p>
        </p:txBody>
      </p:sp>
      <p:sp>
        <p:nvSpPr>
          <p:cNvPr id="17" name="Shape 15"/>
          <p:cNvSpPr/>
          <p:nvPr/>
        </p:nvSpPr>
        <p:spPr>
          <a:xfrm>
            <a:off x="5641848" y="3264408"/>
            <a:ext cx="146304" cy="146304"/>
          </a:xfrm>
          <a:prstGeom prst="ellipse">
            <a:avLst/>
          </a:prstGeom>
          <a:solidFill>
            <a:srgbClr val="FFFFFF"/>
          </a:solidFill>
          <a:ln w="15875">
            <a:solidFill>
              <a:srgbClr val="292934"/>
            </a:solidFill>
            <a:prstDash val="solid"/>
          </a:ln>
        </p:spPr>
        <p:txBody>
          <a:bodyPr/>
          <a:lstStyle/>
          <a:p>
            <a:endParaRPr lang="en-US"/>
          </a:p>
        </p:txBody>
      </p:sp>
      <p:sp>
        <p:nvSpPr>
          <p:cNvPr id="18" name="Text 16"/>
          <p:cNvSpPr txBox="1"/>
          <p:nvPr/>
        </p:nvSpPr>
        <p:spPr>
          <a:xfrm>
            <a:off x="5943600" y="3154680"/>
            <a:ext cx="548640" cy="228600"/>
          </a:xfrm>
          <a:prstGeom prst="rect">
            <a:avLst/>
          </a:prstGeom>
          <a:noFill/>
          <a:ln/>
        </p:spPr>
        <p:txBody>
          <a:bodyPr wrap="square" lIns="0" tIns="0" rIns="0" bIns="0" rtlCol="0" anchor="ctr"/>
          <a:lstStyle/>
          <a:p>
            <a:pPr marL="0" indent="0" algn="l">
              <a:buNone/>
            </a:pPr>
            <a:r>
              <a:rPr lang="en-US" sz="1200" b="1">
                <a:solidFill>
                  <a:srgbClr val="292934"/>
                </a:solidFill>
                <a:latin typeface="Tahoma" pitchFamily="34" charset="0"/>
                <a:ea typeface="Tahoma" pitchFamily="34" charset="-122"/>
                <a:cs typeface="Tahoma" pitchFamily="34" charset="-120"/>
              </a:rPr>
              <a:t>2019</a:t>
            </a:r>
            <a:endParaRPr lang="en-US" sz="1200"/>
          </a:p>
        </p:txBody>
      </p:sp>
      <p:sp>
        <p:nvSpPr>
          <p:cNvPr id="19" name="Text 17"/>
          <p:cNvSpPr txBox="1"/>
          <p:nvPr/>
        </p:nvSpPr>
        <p:spPr>
          <a:xfrm>
            <a:off x="6492240" y="3154680"/>
            <a:ext cx="2286000" cy="228600"/>
          </a:xfrm>
          <a:prstGeom prst="rect">
            <a:avLst/>
          </a:prstGeom>
          <a:noFill/>
          <a:ln/>
        </p:spPr>
        <p:txBody>
          <a:bodyPr wrap="square" lIns="0" tIns="0" rIns="0" bIns="0" rtlCol="0" anchor="ctr"/>
          <a:lstStyle/>
          <a:p>
            <a:pPr marL="0" indent="0" algn="l">
              <a:buNone/>
            </a:pPr>
            <a:r>
              <a:rPr lang="en-US" sz="1200">
                <a:solidFill>
                  <a:srgbClr val="292934"/>
                </a:solidFill>
                <a:latin typeface="Tahoma" pitchFamily="34" charset="0"/>
                <a:ea typeface="Tahoma" pitchFamily="34" charset="-122"/>
                <a:cs typeface="Tahoma" pitchFamily="34" charset="-120"/>
              </a:rPr>
              <a:t>Boletsis &amp; Cedergren</a:t>
            </a:r>
            <a:endParaRPr lang="en-US" sz="1200"/>
          </a:p>
        </p:txBody>
      </p:sp>
      <p:sp>
        <p:nvSpPr>
          <p:cNvPr id="20" name="Text 18"/>
          <p:cNvSpPr txBox="1"/>
          <p:nvPr/>
        </p:nvSpPr>
        <p:spPr>
          <a:xfrm>
            <a:off x="6492240" y="3392424"/>
            <a:ext cx="2286000" cy="228600"/>
          </a:xfrm>
          <a:prstGeom prst="rect">
            <a:avLst/>
          </a:prstGeom>
          <a:noFill/>
          <a:ln/>
        </p:spPr>
        <p:txBody>
          <a:bodyPr wrap="square" lIns="0" tIns="0" rIns="0" bIns="0" rtlCol="0" anchor="ctr"/>
          <a:lstStyle/>
          <a:p>
            <a:pPr marL="0" indent="0" algn="l">
              <a:buNone/>
            </a:pPr>
            <a:r>
              <a:rPr lang="en-US" sz="1100">
                <a:solidFill>
                  <a:srgbClr val="595959"/>
                </a:solidFill>
                <a:latin typeface="Tahoma" pitchFamily="34" charset="0"/>
                <a:ea typeface="Tahoma" pitchFamily="34" charset="-122"/>
                <a:cs typeface="Tahoma" pitchFamily="34" charset="-120"/>
              </a:rPr>
              <a:t>Joystick: most sickness</a:t>
            </a:r>
            <a:endParaRPr lang="en-US" sz="1100"/>
          </a:p>
        </p:txBody>
      </p:sp>
      <p:sp>
        <p:nvSpPr>
          <p:cNvPr id="21" name="Shape 19"/>
          <p:cNvSpPr/>
          <p:nvPr/>
        </p:nvSpPr>
        <p:spPr>
          <a:xfrm>
            <a:off x="5641848" y="3950208"/>
            <a:ext cx="146304" cy="146304"/>
          </a:xfrm>
          <a:prstGeom prst="ellipse">
            <a:avLst/>
          </a:prstGeom>
          <a:solidFill>
            <a:srgbClr val="C00000"/>
          </a:solidFill>
          <a:ln w="15875">
            <a:solidFill>
              <a:srgbClr val="C00000"/>
            </a:solidFill>
            <a:prstDash val="solid"/>
          </a:ln>
        </p:spPr>
        <p:txBody>
          <a:bodyPr/>
          <a:lstStyle/>
          <a:p>
            <a:endParaRPr lang="en-US"/>
          </a:p>
        </p:txBody>
      </p:sp>
      <p:sp>
        <p:nvSpPr>
          <p:cNvPr id="22" name="Text 20"/>
          <p:cNvSpPr txBox="1"/>
          <p:nvPr/>
        </p:nvSpPr>
        <p:spPr>
          <a:xfrm>
            <a:off x="5943600" y="3840480"/>
            <a:ext cx="548640" cy="228600"/>
          </a:xfrm>
          <a:prstGeom prst="rect">
            <a:avLst/>
          </a:prstGeom>
          <a:noFill/>
          <a:ln/>
        </p:spPr>
        <p:txBody>
          <a:bodyPr wrap="square" lIns="0" tIns="0" rIns="0" bIns="0" rtlCol="0" anchor="ctr"/>
          <a:lstStyle/>
          <a:p>
            <a:pPr marL="0" indent="0" algn="l">
              <a:buNone/>
            </a:pPr>
            <a:r>
              <a:rPr lang="en-US" sz="1200" b="1">
                <a:solidFill>
                  <a:srgbClr val="292934"/>
                </a:solidFill>
                <a:latin typeface="Tahoma" pitchFamily="34" charset="0"/>
                <a:ea typeface="Tahoma" pitchFamily="34" charset="-122"/>
                <a:cs typeface="Tahoma" pitchFamily="34" charset="-120"/>
              </a:rPr>
              <a:t>2020</a:t>
            </a:r>
            <a:endParaRPr lang="en-US" sz="1200"/>
          </a:p>
        </p:txBody>
      </p:sp>
      <p:sp>
        <p:nvSpPr>
          <p:cNvPr id="23" name="Text 21"/>
          <p:cNvSpPr txBox="1"/>
          <p:nvPr/>
        </p:nvSpPr>
        <p:spPr>
          <a:xfrm>
            <a:off x="6492240" y="3840480"/>
            <a:ext cx="2286000" cy="228600"/>
          </a:xfrm>
          <a:prstGeom prst="rect">
            <a:avLst/>
          </a:prstGeom>
          <a:noFill/>
          <a:ln/>
        </p:spPr>
        <p:txBody>
          <a:bodyPr wrap="square" lIns="0" tIns="0" rIns="0" bIns="0" rtlCol="0" anchor="ctr"/>
          <a:lstStyle/>
          <a:p>
            <a:pPr marL="0" indent="0" algn="l">
              <a:buNone/>
            </a:pPr>
            <a:r>
              <a:rPr lang="en-US" sz="1200">
                <a:solidFill>
                  <a:srgbClr val="292934"/>
                </a:solidFill>
                <a:latin typeface="Tahoma" pitchFamily="34" charset="0"/>
                <a:ea typeface="Tahoma" pitchFamily="34" charset="-122"/>
                <a:cs typeface="Tahoma" pitchFamily="34" charset="-120"/>
              </a:rPr>
              <a:t>Cherep et al.</a:t>
            </a:r>
            <a:endParaRPr lang="en-US" sz="1200"/>
          </a:p>
        </p:txBody>
      </p:sp>
      <p:sp>
        <p:nvSpPr>
          <p:cNvPr id="24" name="Text 22"/>
          <p:cNvSpPr txBox="1"/>
          <p:nvPr/>
        </p:nvSpPr>
        <p:spPr>
          <a:xfrm>
            <a:off x="6492240" y="4078224"/>
            <a:ext cx="2286000" cy="228600"/>
          </a:xfrm>
          <a:prstGeom prst="rect">
            <a:avLst/>
          </a:prstGeom>
          <a:noFill/>
          <a:ln/>
        </p:spPr>
        <p:txBody>
          <a:bodyPr wrap="square" lIns="0" tIns="0" rIns="0" bIns="0" rtlCol="0" anchor="ctr"/>
          <a:lstStyle/>
          <a:p>
            <a:pPr marL="0" indent="0" algn="l">
              <a:buNone/>
            </a:pPr>
            <a:r>
              <a:rPr lang="en-US" sz="1100">
                <a:solidFill>
                  <a:srgbClr val="595959"/>
                </a:solidFill>
                <a:latin typeface="Tahoma" pitchFamily="34" charset="0"/>
                <a:ea typeface="Tahoma" pitchFamily="34" charset="-122"/>
                <a:cs typeface="Tahoma" pitchFamily="34" charset="-120"/>
              </a:rPr>
              <a:t>Walls help only partly</a:t>
            </a:r>
            <a:endParaRPr lang="en-US" sz="1100"/>
          </a:p>
        </p:txBody>
      </p:sp>
      <p:sp>
        <p:nvSpPr>
          <p:cNvPr id="25" name="Citation"/>
          <p:cNvSpPr txBox="1"/>
          <p:nvPr/>
        </p:nvSpPr>
        <p:spPr>
          <a:xfrm>
            <a:off x="457200" y="4407408"/>
            <a:ext cx="7863840" cy="566928"/>
          </a:xfrm>
          <a:prstGeom prst="rect">
            <a:avLst/>
          </a:prstGeom>
          <a:noFill/>
          <a:ln/>
        </p:spPr>
        <p:txBody>
          <a:bodyPr wrap="square" lIns="0" tIns="0" rIns="0" bIns="0" rtlCol="0" anchor="b"/>
          <a:lstStyle/>
          <a:p>
            <a:pPr marL="0" indent="0">
              <a:buNone/>
            </a:pPr>
            <a:r>
              <a:rPr lang="en-US" sz="1100" i="1">
                <a:solidFill>
                  <a:srgbClr val="595959"/>
                </a:solidFill>
                <a:latin typeface="Tahoma" pitchFamily="34" charset="0"/>
                <a:ea typeface="Tahoma" pitchFamily="34" charset="-122"/>
                <a:cs typeface="Tahoma" pitchFamily="34" charset="-120"/>
              </a:rPr>
              <a:t>Bowman et al. (1997); Darken &amp; Sibert (1996); Langbehn et al. (2018); Boletsis &amp; Cedergren (2019); Cherep et al. (2020). Full APA references are on the final slide.</a:t>
            </a:r>
            <a:endParaRPr lang="en-US" sz="1100"/>
          </a:p>
        </p:txBody>
      </p:sp>
      <p:sp>
        <p:nvSpPr>
          <p:cNvPr id="26" name="Slide Number Placeholder 0"/>
          <p:cNvSpPr>
            <a:spLocks noGrp="1"/>
          </p:cNvSpPr>
          <p:nvPr>
            <p:ph type="sldNum" sz="quarter" idx="4294967295"/>
          </p:nvPr>
        </p:nvSpPr>
        <p:spPr>
          <a:xfrm>
            <a:off x="8412480" y="4800600"/>
            <a:ext cx="465072"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F7F7F"/>
                </a:solidFill>
                <a:latin typeface="Tahoma"/>
                <a:ea typeface="Tahoma"/>
                <a:cs typeface="Tahoma"/>
              </a:defRPr>
            </a:lvl1pPr>
          </a:lstStyle>
          <a:p>
            <a:pPr algn="r"/>
            <a:fld id="{F7021451-1387-4CA6-816F-3879F97B5CBC}" type="slidenum">
              <a:rPr lang="en-US" b="0" smtClean="0"/>
              <a:t>3</a:t>
            </a:fld>
            <a:r>
              <a:rPr lang="en-US" b="0" dirty="0"/>
              <a:t>/12</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500">
                <a:solidFill>
                  <a:srgbClr val="292934"/>
                </a:solidFill>
                <a:latin typeface="Tahoma" pitchFamily="34" charset="0"/>
                <a:ea typeface="Tahoma" pitchFamily="34" charset="-122"/>
                <a:cs typeface="Tahoma" pitchFamily="34" charset="-120"/>
              </a:rPr>
              <a:t>Gap: nobody has tested a trail for teleport</a:t>
            </a:r>
            <a:endParaRPr lang="en-US" sz="2500"/>
          </a:p>
        </p:txBody>
      </p:sp>
      <p:sp>
        <p:nvSpPr>
          <p:cNvPr id="3" name="Bullets"/>
          <p:cNvSpPr txBox="1"/>
          <p:nvPr/>
        </p:nvSpPr>
        <p:spPr>
          <a:xfrm>
            <a:off x="457200" y="1051560"/>
            <a:ext cx="4480560" cy="3246120"/>
          </a:xfrm>
          <a:prstGeom prst="rect">
            <a:avLst/>
          </a:prstGeom>
          <a:noFill/>
          <a:ln/>
        </p:spPr>
        <p:txBody>
          <a:bodyPr wrap="square" lIns="0" tIns="0" rIns="0" bIns="0" rtlCol="0" anchor="t"/>
          <a:lstStyle/>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What we know</a:t>
            </a:r>
            <a:r>
              <a:rPr lang="en-US" sz="1600">
                <a:solidFill>
                  <a:srgbClr val="292934"/>
                </a:solidFill>
                <a:latin typeface="Tahoma" pitchFamily="34" charset="0"/>
                <a:ea typeface="Tahoma" pitchFamily="34" charset="-122"/>
                <a:cs typeface="Tahoma" pitchFamily="34" charset="-120"/>
              </a:rPr>
              <a:t> - teleport disorients, joystick sickens, and visual cues help people find their way</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No interface-level fix tested</a:t>
            </a:r>
            <a:r>
              <a:rPr lang="en-US" sz="1600">
                <a:solidFill>
                  <a:srgbClr val="292934"/>
                </a:solidFill>
                <a:latin typeface="Tahoma" pitchFamily="34" charset="0"/>
                <a:ea typeface="Tahoma" pitchFamily="34" charset="-122"/>
                <a:cs typeface="Tahoma" pitchFamily="34" charset="-120"/>
              </a:rPr>
              <a:t> - to our knowledge, no study adds a visible trail to teleport in a search-and-escape task</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Getting lost is rarely measured</a:t>
            </a:r>
            <a:r>
              <a:rPr lang="en-US" sz="1600">
                <a:solidFill>
                  <a:srgbClr val="292934"/>
                </a:solidFill>
                <a:latin typeface="Tahoma" pitchFamily="34" charset="0"/>
                <a:ea typeface="Tahoma" pitchFamily="34" charset="-122"/>
                <a:cs typeface="Tahoma" pitchFamily="34" charset="-120"/>
              </a:rPr>
              <a:t> - earlier comparisons used questionnaires or pointing tasks, not backtracking</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Sickness must be rechecked</a:t>
            </a:r>
            <a:r>
              <a:rPr lang="en-US" sz="1600">
                <a:solidFill>
                  <a:srgbClr val="292934"/>
                </a:solidFill>
                <a:latin typeface="Tahoma" pitchFamily="34" charset="0"/>
                <a:ea typeface="Tahoma" pitchFamily="34" charset="-122"/>
                <a:cs typeface="Tahoma" pitchFamily="34" charset="-120"/>
              </a:rPr>
              <a:t> - a fix only counts if it keeps teleport comfortable</a:t>
            </a:r>
            <a:endParaRPr lang="en-US" sz="1600"/>
          </a:p>
        </p:txBody>
      </p:sp>
      <p:sp>
        <p:nvSpPr>
          <p:cNvPr id="4" name="Shape 2"/>
          <p:cNvSpPr/>
          <p:nvPr/>
        </p:nvSpPr>
        <p:spPr>
          <a:xfrm>
            <a:off x="5303520" y="1234440"/>
            <a:ext cx="1600200" cy="731520"/>
          </a:xfrm>
          <a:prstGeom prst="rect">
            <a:avLst/>
          </a:prstGeom>
          <a:solidFill>
            <a:srgbClr val="FFFFFF"/>
          </a:solidFill>
          <a:ln w="15875">
            <a:solidFill>
              <a:srgbClr val="292934"/>
            </a:solidFill>
            <a:prstDash val="solid"/>
          </a:ln>
        </p:spPr>
        <p:txBody>
          <a:bodyPr/>
          <a:lstStyle/>
          <a:p>
            <a:endParaRPr lang="en-US"/>
          </a:p>
        </p:txBody>
      </p:sp>
      <p:sp>
        <p:nvSpPr>
          <p:cNvPr id="5" name="Text 3"/>
          <p:cNvSpPr txBox="1"/>
          <p:nvPr/>
        </p:nvSpPr>
        <p:spPr>
          <a:xfrm>
            <a:off x="5349240" y="1234440"/>
            <a:ext cx="1508760" cy="731520"/>
          </a:xfrm>
          <a:prstGeom prst="rect">
            <a:avLst/>
          </a:prstGeom>
          <a:noFill/>
          <a:ln/>
        </p:spPr>
        <p:txBody>
          <a:bodyPr wrap="square" lIns="0" tIns="0" rIns="0" bIns="0" rtlCol="0" anchor="ctr"/>
          <a:lstStyle/>
          <a:p>
            <a:pPr marL="0" indent="0" algn="ctr">
              <a:buNone/>
            </a:pPr>
            <a:r>
              <a:rPr lang="en-US" sz="1100">
                <a:solidFill>
                  <a:srgbClr val="292934"/>
                </a:solidFill>
                <a:latin typeface="Tahoma" pitchFamily="34" charset="0"/>
                <a:ea typeface="Tahoma" pitchFamily="34" charset="-122"/>
                <a:cs typeface="Tahoma" pitchFamily="34" charset="-120"/>
              </a:rPr>
              <a:t>Teleport causes disorientation</a:t>
            </a:r>
            <a:endParaRPr lang="en-US" sz="1100"/>
          </a:p>
        </p:txBody>
      </p:sp>
      <p:sp>
        <p:nvSpPr>
          <p:cNvPr id="6" name="Shape 4"/>
          <p:cNvSpPr/>
          <p:nvPr/>
        </p:nvSpPr>
        <p:spPr>
          <a:xfrm>
            <a:off x="7178040" y="1234440"/>
            <a:ext cx="1600200" cy="731520"/>
          </a:xfrm>
          <a:prstGeom prst="rect">
            <a:avLst/>
          </a:prstGeom>
          <a:solidFill>
            <a:srgbClr val="FFFFFF"/>
          </a:solidFill>
          <a:ln w="15875">
            <a:solidFill>
              <a:srgbClr val="292934"/>
            </a:solidFill>
            <a:prstDash val="solid"/>
          </a:ln>
        </p:spPr>
        <p:txBody>
          <a:bodyPr/>
          <a:lstStyle/>
          <a:p>
            <a:endParaRPr lang="en-US"/>
          </a:p>
        </p:txBody>
      </p:sp>
      <p:sp>
        <p:nvSpPr>
          <p:cNvPr id="7" name="Text 5"/>
          <p:cNvSpPr txBox="1"/>
          <p:nvPr/>
        </p:nvSpPr>
        <p:spPr>
          <a:xfrm>
            <a:off x="7223760" y="1234440"/>
            <a:ext cx="1508760" cy="731520"/>
          </a:xfrm>
          <a:prstGeom prst="rect">
            <a:avLst/>
          </a:prstGeom>
          <a:noFill/>
          <a:ln/>
        </p:spPr>
        <p:txBody>
          <a:bodyPr wrap="square" lIns="0" tIns="0" rIns="0" bIns="0" rtlCol="0" anchor="ctr"/>
          <a:lstStyle/>
          <a:p>
            <a:pPr marL="0" indent="0" algn="ctr">
              <a:buNone/>
            </a:pPr>
            <a:r>
              <a:rPr lang="en-US" sz="1100">
                <a:solidFill>
                  <a:srgbClr val="292934"/>
                </a:solidFill>
                <a:latin typeface="Tahoma" pitchFamily="34" charset="0"/>
                <a:ea typeface="Tahoma" pitchFamily="34" charset="-122"/>
                <a:cs typeface="Tahoma" pitchFamily="34" charset="-120"/>
              </a:rPr>
              <a:t>Visual cues aid wayfinding</a:t>
            </a:r>
            <a:endParaRPr lang="en-US" sz="1100"/>
          </a:p>
        </p:txBody>
      </p:sp>
      <p:sp>
        <p:nvSpPr>
          <p:cNvPr id="8" name="Text 6"/>
          <p:cNvSpPr txBox="1"/>
          <p:nvPr/>
        </p:nvSpPr>
        <p:spPr>
          <a:xfrm>
            <a:off x="5303520" y="978408"/>
            <a:ext cx="1600200" cy="228600"/>
          </a:xfrm>
          <a:prstGeom prst="rect">
            <a:avLst/>
          </a:prstGeom>
          <a:noFill/>
          <a:ln/>
        </p:spPr>
        <p:txBody>
          <a:bodyPr wrap="square" lIns="0" tIns="0" rIns="0" bIns="0" rtlCol="0" anchor="ctr"/>
          <a:lstStyle/>
          <a:p>
            <a:pPr marL="0" indent="0" algn="ctr">
              <a:buNone/>
            </a:pPr>
            <a:r>
              <a:rPr lang="en-US" sz="1100">
                <a:solidFill>
                  <a:srgbClr val="595959"/>
                </a:solidFill>
                <a:latin typeface="Tahoma" pitchFamily="34" charset="0"/>
                <a:ea typeface="Tahoma" pitchFamily="34" charset="-122"/>
                <a:cs typeface="Tahoma" pitchFamily="34" charset="-120"/>
              </a:rPr>
              <a:t>Known</a:t>
            </a:r>
            <a:endParaRPr lang="en-US" sz="1100"/>
          </a:p>
        </p:txBody>
      </p:sp>
      <p:sp>
        <p:nvSpPr>
          <p:cNvPr id="9" name="Text 7"/>
          <p:cNvSpPr txBox="1"/>
          <p:nvPr/>
        </p:nvSpPr>
        <p:spPr>
          <a:xfrm>
            <a:off x="7178040" y="978408"/>
            <a:ext cx="1600200" cy="228600"/>
          </a:xfrm>
          <a:prstGeom prst="rect">
            <a:avLst/>
          </a:prstGeom>
          <a:noFill/>
          <a:ln/>
        </p:spPr>
        <p:txBody>
          <a:bodyPr wrap="square" lIns="0" tIns="0" rIns="0" bIns="0" rtlCol="0" anchor="ctr"/>
          <a:lstStyle/>
          <a:p>
            <a:pPr marL="0" indent="0" algn="ctr">
              <a:buNone/>
            </a:pPr>
            <a:r>
              <a:rPr lang="en-US" sz="1100">
                <a:solidFill>
                  <a:srgbClr val="595959"/>
                </a:solidFill>
                <a:latin typeface="Tahoma" pitchFamily="34" charset="0"/>
                <a:ea typeface="Tahoma" pitchFamily="34" charset="-122"/>
                <a:cs typeface="Tahoma" pitchFamily="34" charset="-120"/>
              </a:rPr>
              <a:t>Known</a:t>
            </a:r>
            <a:endParaRPr lang="en-US" sz="1100"/>
          </a:p>
        </p:txBody>
      </p:sp>
      <p:sp>
        <p:nvSpPr>
          <p:cNvPr id="10" name="Shape 8"/>
          <p:cNvSpPr/>
          <p:nvPr/>
        </p:nvSpPr>
        <p:spPr>
          <a:xfrm>
            <a:off x="6103620" y="1965960"/>
            <a:ext cx="662940" cy="822960"/>
          </a:xfrm>
          <a:prstGeom prst="line">
            <a:avLst/>
          </a:prstGeom>
          <a:noFill/>
          <a:ln w="15875">
            <a:solidFill>
              <a:srgbClr val="595959"/>
            </a:solidFill>
            <a:prstDash val="solid"/>
            <a:tailEnd type="none"/>
          </a:ln>
        </p:spPr>
        <p:txBody>
          <a:bodyPr/>
          <a:lstStyle/>
          <a:p>
            <a:endParaRPr lang="en-US"/>
          </a:p>
        </p:txBody>
      </p:sp>
      <p:sp>
        <p:nvSpPr>
          <p:cNvPr id="11" name="Shape 9"/>
          <p:cNvSpPr/>
          <p:nvPr/>
        </p:nvSpPr>
        <p:spPr>
          <a:xfrm flipV="1">
            <a:off x="7315200" y="1965960"/>
            <a:ext cx="662940" cy="822960"/>
          </a:xfrm>
          <a:prstGeom prst="line">
            <a:avLst/>
          </a:prstGeom>
          <a:noFill/>
          <a:ln w="15875">
            <a:solidFill>
              <a:srgbClr val="595959"/>
            </a:solidFill>
            <a:prstDash val="solid"/>
            <a:tailEnd type="none"/>
          </a:ln>
        </p:spPr>
        <p:txBody>
          <a:bodyPr/>
          <a:lstStyle/>
          <a:p>
            <a:endParaRPr lang="en-US"/>
          </a:p>
        </p:txBody>
      </p:sp>
      <p:sp>
        <p:nvSpPr>
          <p:cNvPr id="12" name="Shape 10"/>
          <p:cNvSpPr/>
          <p:nvPr/>
        </p:nvSpPr>
        <p:spPr>
          <a:xfrm>
            <a:off x="5897880" y="2788920"/>
            <a:ext cx="2286000" cy="914400"/>
          </a:xfrm>
          <a:prstGeom prst="rect">
            <a:avLst/>
          </a:prstGeom>
          <a:solidFill>
            <a:srgbClr val="FFFFFF"/>
          </a:solidFill>
          <a:ln w="22225">
            <a:solidFill>
              <a:srgbClr val="C00000"/>
            </a:solidFill>
            <a:prstDash val="dash"/>
          </a:ln>
        </p:spPr>
        <p:txBody>
          <a:bodyPr/>
          <a:lstStyle/>
          <a:p>
            <a:endParaRPr lang="en-US"/>
          </a:p>
        </p:txBody>
      </p:sp>
      <p:sp>
        <p:nvSpPr>
          <p:cNvPr id="13" name="Text 11"/>
          <p:cNvSpPr txBox="1"/>
          <p:nvPr/>
        </p:nvSpPr>
        <p:spPr>
          <a:xfrm>
            <a:off x="5989320" y="2788920"/>
            <a:ext cx="2103120" cy="914400"/>
          </a:xfrm>
          <a:prstGeom prst="rect">
            <a:avLst/>
          </a:prstGeom>
          <a:noFill/>
          <a:ln/>
        </p:spPr>
        <p:txBody>
          <a:bodyPr wrap="square" lIns="0" tIns="0" rIns="0" bIns="0" rtlCol="0" anchor="ctr"/>
          <a:lstStyle/>
          <a:p>
            <a:pPr marL="0" indent="0" algn="ctr">
              <a:buNone/>
            </a:pPr>
            <a:r>
              <a:rPr lang="en-US" sz="1200" b="1">
                <a:solidFill>
                  <a:srgbClr val="C00000"/>
                </a:solidFill>
                <a:latin typeface="Tahoma" pitchFamily="34" charset="0"/>
                <a:ea typeface="Tahoma" pitchFamily="34" charset="-122"/>
                <a:cs typeface="Tahoma" pitchFamily="34" charset="-120"/>
              </a:rPr>
              <a:t>Does a trail fix teleport in an escape task?</a:t>
            </a:r>
            <a:endParaRPr lang="en-US" sz="1200"/>
          </a:p>
        </p:txBody>
      </p:sp>
      <p:sp>
        <p:nvSpPr>
          <p:cNvPr id="14" name="Text 12"/>
          <p:cNvSpPr txBox="1"/>
          <p:nvPr/>
        </p:nvSpPr>
        <p:spPr>
          <a:xfrm>
            <a:off x="5897880" y="3749040"/>
            <a:ext cx="2286000" cy="228600"/>
          </a:xfrm>
          <a:prstGeom prst="rect">
            <a:avLst/>
          </a:prstGeom>
          <a:noFill/>
          <a:ln/>
        </p:spPr>
        <p:txBody>
          <a:bodyPr wrap="square" lIns="0" tIns="0" rIns="0" bIns="0" rtlCol="0" anchor="ctr"/>
          <a:lstStyle/>
          <a:p>
            <a:pPr marL="0" indent="0" algn="ctr">
              <a:buNone/>
            </a:pPr>
            <a:r>
              <a:rPr lang="en-US" sz="1100">
                <a:solidFill>
                  <a:srgbClr val="595959"/>
                </a:solidFill>
                <a:latin typeface="Tahoma" pitchFamily="34" charset="0"/>
                <a:ea typeface="Tahoma" pitchFamily="34" charset="-122"/>
                <a:cs typeface="Tahoma" pitchFamily="34" charset="-120"/>
              </a:rPr>
              <a:t>Not yet tested: our study</a:t>
            </a:r>
            <a:endParaRPr lang="en-US" sz="1100"/>
          </a:p>
        </p:txBody>
      </p:sp>
      <p:sp>
        <p:nvSpPr>
          <p:cNvPr id="15" name="Citation"/>
          <p:cNvSpPr txBox="1"/>
          <p:nvPr/>
        </p:nvSpPr>
        <p:spPr>
          <a:xfrm>
            <a:off x="457200" y="4407408"/>
            <a:ext cx="7863840" cy="566928"/>
          </a:xfrm>
          <a:prstGeom prst="rect">
            <a:avLst/>
          </a:prstGeom>
          <a:noFill/>
          <a:ln/>
        </p:spPr>
        <p:txBody>
          <a:bodyPr wrap="square" lIns="0" tIns="0" rIns="0" bIns="0" rtlCol="0" anchor="b"/>
          <a:lstStyle/>
          <a:p>
            <a:pPr marL="0" indent="0">
              <a:buNone/>
            </a:pPr>
            <a:r>
              <a:rPr lang="en-US" sz="1100" i="1">
                <a:solidFill>
                  <a:srgbClr val="595959"/>
                </a:solidFill>
                <a:latin typeface="Tahoma" pitchFamily="34" charset="0"/>
                <a:ea typeface="Tahoma" pitchFamily="34" charset="-122"/>
                <a:cs typeface="Tahoma" pitchFamily="34" charset="-120"/>
              </a:rPr>
              <a:t>Cherep, L. A., Lim, A. F., Kelly, J. W., Acharya, D., Velasco, A., Bustamante, E., Ostrander, A. G., &amp; Gilbert, S. B. (2020). Spatial cognitive implications of teleporting through virtual environments. Journal of Experimental Psychology: Applied, 26(3), 480–492.</a:t>
            </a:r>
            <a:endParaRPr lang="en-US" sz="1100"/>
          </a:p>
        </p:txBody>
      </p:sp>
      <p:sp>
        <p:nvSpPr>
          <p:cNvPr id="25" name="Slide Number Placeholder 0"/>
          <p:cNvSpPr>
            <a:spLocks noGrp="1"/>
          </p:cNvSpPr>
          <p:nvPr>
            <p:ph type="sldNum" sz="quarter" idx="4294967295"/>
          </p:nvPr>
        </p:nvSpPr>
        <p:spPr>
          <a:xfrm>
            <a:off x="8412479" y="4800600"/>
            <a:ext cx="519573"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F7F7F"/>
                </a:solidFill>
                <a:latin typeface="Tahoma"/>
                <a:ea typeface="Tahoma"/>
                <a:cs typeface="Tahoma"/>
              </a:defRPr>
            </a:lvl1pPr>
          </a:lstStyle>
          <a:p>
            <a:pPr algn="r"/>
            <a:fld id="{F7021451-1387-4CA6-816F-3879F97B5CBC}" type="slidenum">
              <a:rPr lang="en-US" b="0" smtClean="0"/>
              <a:t>4</a:t>
            </a:fld>
            <a:r>
              <a:rPr lang="en-US" b="0" dirty="0"/>
              <a:t>/12</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500">
                <a:solidFill>
                  <a:srgbClr val="292934"/>
                </a:solidFill>
                <a:latin typeface="Tahoma" pitchFamily="34" charset="0"/>
                <a:ea typeface="Tahoma" pitchFamily="34" charset="-122"/>
                <a:cs typeface="Tahoma" pitchFamily="34" charset="-120"/>
              </a:rPr>
              <a:t>Objective, research questions, and hypotheses</a:t>
            </a:r>
            <a:endParaRPr lang="en-US" sz="2500"/>
          </a:p>
        </p:txBody>
      </p:sp>
      <p:sp>
        <p:nvSpPr>
          <p:cNvPr id="3" name="Bullets"/>
          <p:cNvSpPr txBox="1"/>
          <p:nvPr/>
        </p:nvSpPr>
        <p:spPr>
          <a:xfrm>
            <a:off x="457200" y="1051560"/>
            <a:ext cx="4572000" cy="3246120"/>
          </a:xfrm>
          <a:prstGeom prst="rect">
            <a:avLst/>
          </a:prstGeom>
          <a:noFill/>
          <a:ln/>
        </p:spPr>
        <p:txBody>
          <a:bodyPr wrap="square" lIns="0" tIns="0" rIns="0" bIns="0" rtlCol="0" anchor="t"/>
          <a:lstStyle/>
          <a:p>
            <a:pPr marL="177800" indent="-177800">
              <a:spcAft>
                <a:spcPts val="700"/>
              </a:spcAft>
              <a:buSzPct val="100000"/>
              <a:buChar char="•"/>
            </a:pPr>
            <a:r>
              <a:rPr lang="en-US" sz="1600" b="1">
                <a:solidFill>
                  <a:srgbClr val="C00000"/>
                </a:solidFill>
                <a:latin typeface="Tahoma" pitchFamily="34" charset="0"/>
                <a:ea typeface="Tahoma" pitchFamily="34" charset="-122"/>
                <a:cs typeface="Tahoma" pitchFamily="34" charset="-120"/>
              </a:rPr>
              <a:t>Objective</a:t>
            </a:r>
            <a:r>
              <a:rPr lang="en-US" sz="1600">
                <a:solidFill>
                  <a:srgbClr val="292934"/>
                </a:solidFill>
                <a:latin typeface="Tahoma" pitchFamily="34" charset="0"/>
                <a:ea typeface="Tahoma" pitchFamily="34" charset="-122"/>
                <a:cs typeface="Tahoma" pitchFamily="34" charset="-120"/>
              </a:rPr>
              <a:t> - find the method that gets users through a VR escape task fastest with the least sickness</a:t>
            </a:r>
            <a:endParaRPr lang="en-US" sz="1600"/>
          </a:p>
          <a:p>
            <a:pPr marL="177800" indent="-177800">
              <a:spcAft>
                <a:spcPts val="700"/>
              </a:spcAft>
              <a:buSzPct val="100000"/>
              <a:buChar char="•"/>
            </a:pPr>
            <a:r>
              <a:rPr lang="en-US" sz="1600" b="1">
                <a:solidFill>
                  <a:srgbClr val="C00000"/>
                </a:solidFill>
                <a:latin typeface="Tahoma" pitchFamily="34" charset="0"/>
                <a:ea typeface="Tahoma" pitchFamily="34" charset="-122"/>
                <a:cs typeface="Tahoma" pitchFamily="34" charset="-120"/>
              </a:rPr>
              <a:t>RQ1: navigation efficiency</a:t>
            </a:r>
            <a:r>
              <a:rPr lang="en-US" sz="1600">
                <a:solidFill>
                  <a:srgbClr val="292934"/>
                </a:solidFill>
                <a:latin typeface="Tahoma" pitchFamily="34" charset="0"/>
                <a:ea typeface="Tahoma" pitchFamily="34" charset="-122"/>
                <a:cs typeface="Tahoma" pitchFamily="34" charset="-120"/>
              </a:rPr>
              <a:t> - does the movement method affect how efficiently users reach the exit?</a:t>
            </a:r>
            <a:endParaRPr lang="en-US" sz="1600"/>
          </a:p>
          <a:p>
            <a:pPr marL="177800" indent="-177800">
              <a:spcAft>
                <a:spcPts val="700"/>
              </a:spcAft>
              <a:buSzPct val="100000"/>
              <a:buChar char="•"/>
            </a:pPr>
            <a:r>
              <a:rPr lang="en-US" sz="1600" b="1">
                <a:solidFill>
                  <a:srgbClr val="C00000"/>
                </a:solidFill>
                <a:latin typeface="Tahoma" pitchFamily="34" charset="0"/>
                <a:ea typeface="Tahoma" pitchFamily="34" charset="-122"/>
                <a:cs typeface="Tahoma" pitchFamily="34" charset="-120"/>
              </a:rPr>
              <a:t>H1</a:t>
            </a:r>
            <a:r>
              <a:rPr lang="en-US" sz="1600">
                <a:solidFill>
                  <a:srgbClr val="292934"/>
                </a:solidFill>
                <a:latin typeface="Tahoma" pitchFamily="34" charset="0"/>
                <a:ea typeface="Tahoma" pitchFamily="34" charset="-122"/>
                <a:cs typeface="Tahoma" pitchFamily="34" charset="-120"/>
              </a:rPr>
              <a:t> - trail-assisted teleport is fastest, with less backtracking than plain teleport</a:t>
            </a:r>
            <a:endParaRPr lang="en-US" sz="1600"/>
          </a:p>
          <a:p>
            <a:pPr marL="177800" indent="-177800">
              <a:spcAft>
                <a:spcPts val="700"/>
              </a:spcAft>
              <a:buSzPct val="100000"/>
              <a:buChar char="•"/>
            </a:pPr>
            <a:r>
              <a:rPr lang="en-US" sz="1600" b="1">
                <a:solidFill>
                  <a:srgbClr val="C00000"/>
                </a:solidFill>
                <a:latin typeface="Tahoma" pitchFamily="34" charset="0"/>
                <a:ea typeface="Tahoma" pitchFamily="34" charset="-122"/>
                <a:cs typeface="Tahoma" pitchFamily="34" charset="-120"/>
              </a:rPr>
              <a:t>RQ2: motion sickness</a:t>
            </a:r>
            <a:r>
              <a:rPr lang="en-US" sz="1600">
                <a:solidFill>
                  <a:srgbClr val="292934"/>
                </a:solidFill>
                <a:latin typeface="Tahoma" pitchFamily="34" charset="0"/>
                <a:ea typeface="Tahoma" pitchFamily="34" charset="-122"/>
                <a:cs typeface="Tahoma" pitchFamily="34" charset="-120"/>
              </a:rPr>
              <a:t> - does the movement method affect motion sickness?</a:t>
            </a:r>
            <a:endParaRPr lang="en-US" sz="1600"/>
          </a:p>
          <a:p>
            <a:pPr marL="177800" indent="-177800">
              <a:spcAft>
                <a:spcPts val="700"/>
              </a:spcAft>
              <a:buSzPct val="100000"/>
              <a:buChar char="•"/>
            </a:pPr>
            <a:r>
              <a:rPr lang="en-US" sz="1600" b="1">
                <a:solidFill>
                  <a:srgbClr val="C00000"/>
                </a:solidFill>
                <a:latin typeface="Tahoma" pitchFamily="34" charset="0"/>
                <a:ea typeface="Tahoma" pitchFamily="34" charset="-122"/>
                <a:cs typeface="Tahoma" pitchFamily="34" charset="-120"/>
              </a:rPr>
              <a:t>H2</a:t>
            </a:r>
            <a:r>
              <a:rPr lang="en-US" sz="1600">
                <a:solidFill>
                  <a:srgbClr val="292934"/>
                </a:solidFill>
                <a:latin typeface="Tahoma" pitchFamily="34" charset="0"/>
                <a:ea typeface="Tahoma" pitchFamily="34" charset="-122"/>
                <a:cs typeface="Tahoma" pitchFamily="34" charset="-120"/>
              </a:rPr>
              <a:t> - joystick is highest; the trail adds no sickness over plain teleport</a:t>
            </a:r>
            <a:endParaRPr lang="en-US" sz="1600"/>
          </a:p>
        </p:txBody>
      </p:sp>
      <p:sp>
        <p:nvSpPr>
          <p:cNvPr id="4" name="Shape 2"/>
          <p:cNvSpPr/>
          <p:nvPr/>
        </p:nvSpPr>
        <p:spPr>
          <a:xfrm>
            <a:off x="6172200" y="1143000"/>
            <a:ext cx="1737360" cy="457200"/>
          </a:xfrm>
          <a:prstGeom prst="roundRect">
            <a:avLst>
              <a:gd name="adj" fmla="val 16000"/>
            </a:avLst>
          </a:prstGeom>
          <a:solidFill>
            <a:srgbClr val="FFFFFF"/>
          </a:solidFill>
          <a:ln w="15875">
            <a:solidFill>
              <a:srgbClr val="292934"/>
            </a:solidFill>
            <a:prstDash val="solid"/>
          </a:ln>
        </p:spPr>
        <p:txBody>
          <a:bodyPr/>
          <a:lstStyle/>
          <a:p>
            <a:endParaRPr lang="en-US"/>
          </a:p>
        </p:txBody>
      </p:sp>
      <p:sp>
        <p:nvSpPr>
          <p:cNvPr id="5" name="Text 3"/>
          <p:cNvSpPr txBox="1"/>
          <p:nvPr/>
        </p:nvSpPr>
        <p:spPr>
          <a:xfrm>
            <a:off x="6172200" y="1143000"/>
            <a:ext cx="1737360" cy="457200"/>
          </a:xfrm>
          <a:prstGeom prst="rect">
            <a:avLst/>
          </a:prstGeom>
          <a:noFill/>
          <a:ln/>
        </p:spPr>
        <p:txBody>
          <a:bodyPr wrap="square" lIns="0" tIns="0" rIns="0" bIns="0" rtlCol="0" anchor="ctr"/>
          <a:lstStyle/>
          <a:p>
            <a:pPr marL="0" indent="0" algn="ctr">
              <a:buNone/>
            </a:pPr>
            <a:r>
              <a:rPr lang="en-US" sz="1200" b="1">
                <a:solidFill>
                  <a:srgbClr val="292934"/>
                </a:solidFill>
                <a:latin typeface="Tahoma" pitchFamily="34" charset="0"/>
                <a:ea typeface="Tahoma" pitchFamily="34" charset="-122"/>
                <a:cs typeface="Tahoma" pitchFamily="34" charset="-120"/>
              </a:rPr>
              <a:t>Movement method</a:t>
            </a:r>
            <a:endParaRPr lang="en-US" sz="1200"/>
          </a:p>
        </p:txBody>
      </p:sp>
      <p:sp>
        <p:nvSpPr>
          <p:cNvPr id="6" name="Shape 4"/>
          <p:cNvSpPr/>
          <p:nvPr/>
        </p:nvSpPr>
        <p:spPr>
          <a:xfrm flipV="1">
            <a:off x="6080760" y="1600200"/>
            <a:ext cx="960120" cy="594360"/>
          </a:xfrm>
          <a:prstGeom prst="line">
            <a:avLst/>
          </a:prstGeom>
          <a:noFill/>
          <a:ln w="15875">
            <a:solidFill>
              <a:srgbClr val="595959"/>
            </a:solidFill>
            <a:prstDash val="solid"/>
            <a:tailEnd type="none"/>
          </a:ln>
        </p:spPr>
        <p:txBody>
          <a:bodyPr/>
          <a:lstStyle/>
          <a:p>
            <a:endParaRPr lang="en-US"/>
          </a:p>
        </p:txBody>
      </p:sp>
      <p:sp>
        <p:nvSpPr>
          <p:cNvPr id="7" name="Shape 5"/>
          <p:cNvSpPr/>
          <p:nvPr/>
        </p:nvSpPr>
        <p:spPr>
          <a:xfrm>
            <a:off x="7040880" y="1600200"/>
            <a:ext cx="960120" cy="594360"/>
          </a:xfrm>
          <a:prstGeom prst="line">
            <a:avLst/>
          </a:prstGeom>
          <a:noFill/>
          <a:ln w="15875">
            <a:solidFill>
              <a:srgbClr val="595959"/>
            </a:solidFill>
            <a:prstDash val="solid"/>
            <a:tailEnd type="none"/>
          </a:ln>
        </p:spPr>
        <p:txBody>
          <a:bodyPr/>
          <a:lstStyle/>
          <a:p>
            <a:endParaRPr lang="en-US"/>
          </a:p>
        </p:txBody>
      </p:sp>
      <p:sp>
        <p:nvSpPr>
          <p:cNvPr id="8" name="Shape 6"/>
          <p:cNvSpPr/>
          <p:nvPr/>
        </p:nvSpPr>
        <p:spPr>
          <a:xfrm>
            <a:off x="5349240" y="2194560"/>
            <a:ext cx="1463040" cy="548640"/>
          </a:xfrm>
          <a:prstGeom prst="roundRect">
            <a:avLst>
              <a:gd name="adj" fmla="val 13333"/>
            </a:avLst>
          </a:prstGeom>
          <a:solidFill>
            <a:srgbClr val="FFFFFF"/>
          </a:solidFill>
          <a:ln w="15875">
            <a:solidFill>
              <a:srgbClr val="C00000"/>
            </a:solidFill>
            <a:prstDash val="solid"/>
          </a:ln>
        </p:spPr>
        <p:txBody>
          <a:bodyPr/>
          <a:lstStyle/>
          <a:p>
            <a:endParaRPr lang="en-US"/>
          </a:p>
        </p:txBody>
      </p:sp>
      <p:sp>
        <p:nvSpPr>
          <p:cNvPr id="9" name="Text 7"/>
          <p:cNvSpPr txBox="1"/>
          <p:nvPr/>
        </p:nvSpPr>
        <p:spPr>
          <a:xfrm>
            <a:off x="5349240" y="2194560"/>
            <a:ext cx="1463040" cy="548640"/>
          </a:xfrm>
          <a:prstGeom prst="rect">
            <a:avLst/>
          </a:prstGeom>
          <a:noFill/>
          <a:ln/>
        </p:spPr>
        <p:txBody>
          <a:bodyPr wrap="square" lIns="0" tIns="0" rIns="0" bIns="0" rtlCol="0" anchor="ctr"/>
          <a:lstStyle/>
          <a:p>
            <a:pPr marL="0" indent="0" algn="ctr">
              <a:buNone/>
            </a:pPr>
            <a:r>
              <a:rPr lang="en-US" sz="1200" b="1">
                <a:solidFill>
                  <a:srgbClr val="C00000"/>
                </a:solidFill>
                <a:latin typeface="Tahoma" pitchFamily="34" charset="0"/>
                <a:ea typeface="Tahoma" pitchFamily="34" charset="-122"/>
                <a:cs typeface="Tahoma" pitchFamily="34" charset="-120"/>
              </a:rPr>
              <a:t>RQ1 Efficiency</a:t>
            </a:r>
            <a:endParaRPr lang="en-US" sz="1200"/>
          </a:p>
        </p:txBody>
      </p:sp>
      <p:sp>
        <p:nvSpPr>
          <p:cNvPr id="10" name="Shape 8"/>
          <p:cNvSpPr/>
          <p:nvPr/>
        </p:nvSpPr>
        <p:spPr>
          <a:xfrm>
            <a:off x="7269480" y="2194560"/>
            <a:ext cx="1463040" cy="548640"/>
          </a:xfrm>
          <a:prstGeom prst="roundRect">
            <a:avLst>
              <a:gd name="adj" fmla="val 13333"/>
            </a:avLst>
          </a:prstGeom>
          <a:solidFill>
            <a:srgbClr val="FFFFFF"/>
          </a:solidFill>
          <a:ln w="15875">
            <a:solidFill>
              <a:srgbClr val="C00000"/>
            </a:solidFill>
            <a:prstDash val="solid"/>
          </a:ln>
        </p:spPr>
        <p:txBody>
          <a:bodyPr/>
          <a:lstStyle/>
          <a:p>
            <a:endParaRPr lang="en-US"/>
          </a:p>
        </p:txBody>
      </p:sp>
      <p:sp>
        <p:nvSpPr>
          <p:cNvPr id="11" name="Text 9"/>
          <p:cNvSpPr txBox="1"/>
          <p:nvPr/>
        </p:nvSpPr>
        <p:spPr>
          <a:xfrm>
            <a:off x="7269480" y="2194560"/>
            <a:ext cx="1463040" cy="548640"/>
          </a:xfrm>
          <a:prstGeom prst="rect">
            <a:avLst/>
          </a:prstGeom>
          <a:noFill/>
          <a:ln/>
        </p:spPr>
        <p:txBody>
          <a:bodyPr wrap="square" lIns="0" tIns="0" rIns="0" bIns="0" rtlCol="0" anchor="ctr"/>
          <a:lstStyle/>
          <a:p>
            <a:pPr marL="0" indent="0" algn="ctr">
              <a:buNone/>
            </a:pPr>
            <a:r>
              <a:rPr lang="en-US" sz="1200" b="1">
                <a:solidFill>
                  <a:srgbClr val="C00000"/>
                </a:solidFill>
                <a:latin typeface="Tahoma" pitchFamily="34" charset="0"/>
                <a:ea typeface="Tahoma" pitchFamily="34" charset="-122"/>
                <a:cs typeface="Tahoma" pitchFamily="34" charset="-120"/>
              </a:rPr>
              <a:t>RQ2 Sickness</a:t>
            </a:r>
            <a:endParaRPr lang="en-US" sz="1200"/>
          </a:p>
        </p:txBody>
      </p:sp>
      <p:sp>
        <p:nvSpPr>
          <p:cNvPr id="12" name="Shape 10"/>
          <p:cNvSpPr/>
          <p:nvPr/>
        </p:nvSpPr>
        <p:spPr>
          <a:xfrm flipV="1">
            <a:off x="5669280" y="2743200"/>
            <a:ext cx="411480" cy="548640"/>
          </a:xfrm>
          <a:prstGeom prst="line">
            <a:avLst/>
          </a:prstGeom>
          <a:noFill/>
          <a:ln w="15875">
            <a:solidFill>
              <a:srgbClr val="595959"/>
            </a:solidFill>
            <a:prstDash val="solid"/>
            <a:tailEnd type="none"/>
          </a:ln>
        </p:spPr>
        <p:txBody>
          <a:bodyPr/>
          <a:lstStyle/>
          <a:p>
            <a:endParaRPr lang="en-US"/>
          </a:p>
        </p:txBody>
      </p:sp>
      <p:sp>
        <p:nvSpPr>
          <p:cNvPr id="13" name="Shape 11"/>
          <p:cNvSpPr/>
          <p:nvPr/>
        </p:nvSpPr>
        <p:spPr>
          <a:xfrm>
            <a:off x="6080760" y="2743200"/>
            <a:ext cx="411480" cy="548640"/>
          </a:xfrm>
          <a:prstGeom prst="line">
            <a:avLst/>
          </a:prstGeom>
          <a:noFill/>
          <a:ln w="15875">
            <a:solidFill>
              <a:srgbClr val="595959"/>
            </a:solidFill>
            <a:prstDash val="solid"/>
            <a:tailEnd type="none"/>
          </a:ln>
        </p:spPr>
        <p:txBody>
          <a:bodyPr/>
          <a:lstStyle/>
          <a:p>
            <a:endParaRPr lang="en-US"/>
          </a:p>
        </p:txBody>
      </p:sp>
      <p:sp>
        <p:nvSpPr>
          <p:cNvPr id="14" name="Shape 12"/>
          <p:cNvSpPr/>
          <p:nvPr/>
        </p:nvSpPr>
        <p:spPr>
          <a:xfrm>
            <a:off x="8001000" y="2743200"/>
            <a:ext cx="0" cy="548640"/>
          </a:xfrm>
          <a:prstGeom prst="line">
            <a:avLst/>
          </a:prstGeom>
          <a:noFill/>
          <a:ln w="15875">
            <a:solidFill>
              <a:srgbClr val="595959"/>
            </a:solidFill>
            <a:prstDash val="solid"/>
            <a:tailEnd type="none"/>
          </a:ln>
        </p:spPr>
        <p:txBody>
          <a:bodyPr/>
          <a:lstStyle/>
          <a:p>
            <a:endParaRPr lang="en-US"/>
          </a:p>
        </p:txBody>
      </p:sp>
      <p:sp>
        <p:nvSpPr>
          <p:cNvPr id="15" name="Text 13"/>
          <p:cNvSpPr txBox="1"/>
          <p:nvPr/>
        </p:nvSpPr>
        <p:spPr>
          <a:xfrm>
            <a:off x="5212080" y="3291840"/>
            <a:ext cx="914400" cy="457200"/>
          </a:xfrm>
          <a:prstGeom prst="rect">
            <a:avLst/>
          </a:prstGeom>
          <a:noFill/>
          <a:ln/>
        </p:spPr>
        <p:txBody>
          <a:bodyPr wrap="square" lIns="0" tIns="0" rIns="0" bIns="0" rtlCol="0" anchor="ctr"/>
          <a:lstStyle/>
          <a:p>
            <a:pPr marL="0" indent="0" algn="ctr">
              <a:buNone/>
            </a:pPr>
            <a:r>
              <a:rPr lang="en-US" sz="1100">
                <a:solidFill>
                  <a:srgbClr val="292934"/>
                </a:solidFill>
                <a:latin typeface="Tahoma" pitchFamily="34" charset="0"/>
                <a:ea typeface="Tahoma" pitchFamily="34" charset="-122"/>
                <a:cs typeface="Tahoma" pitchFamily="34" charset="-120"/>
              </a:rPr>
              <a:t>Time to exit</a:t>
            </a:r>
            <a:endParaRPr lang="en-US" sz="1100"/>
          </a:p>
        </p:txBody>
      </p:sp>
      <p:sp>
        <p:nvSpPr>
          <p:cNvPr id="16" name="Text 14"/>
          <p:cNvSpPr txBox="1"/>
          <p:nvPr/>
        </p:nvSpPr>
        <p:spPr>
          <a:xfrm>
            <a:off x="6080760" y="3291840"/>
            <a:ext cx="868680" cy="457200"/>
          </a:xfrm>
          <a:prstGeom prst="rect">
            <a:avLst/>
          </a:prstGeom>
          <a:noFill/>
          <a:ln/>
        </p:spPr>
        <p:txBody>
          <a:bodyPr wrap="square" lIns="0" tIns="0" rIns="0" bIns="0" rtlCol="0" anchor="ctr"/>
          <a:lstStyle/>
          <a:p>
            <a:pPr marL="0" indent="0" algn="ctr">
              <a:buNone/>
            </a:pPr>
            <a:r>
              <a:rPr lang="en-US" sz="1100">
                <a:solidFill>
                  <a:srgbClr val="292934"/>
                </a:solidFill>
                <a:latin typeface="Tahoma" pitchFamily="34" charset="0"/>
                <a:ea typeface="Tahoma" pitchFamily="34" charset="-122"/>
                <a:cs typeface="Tahoma" pitchFamily="34" charset="-120"/>
              </a:rPr>
              <a:t>Back-tracking</a:t>
            </a:r>
            <a:endParaRPr lang="en-US" sz="1100"/>
          </a:p>
        </p:txBody>
      </p:sp>
      <p:sp>
        <p:nvSpPr>
          <p:cNvPr id="17" name="Text 15"/>
          <p:cNvSpPr txBox="1"/>
          <p:nvPr/>
        </p:nvSpPr>
        <p:spPr>
          <a:xfrm>
            <a:off x="7315200" y="3291840"/>
            <a:ext cx="1371600" cy="457200"/>
          </a:xfrm>
          <a:prstGeom prst="rect">
            <a:avLst/>
          </a:prstGeom>
          <a:noFill/>
          <a:ln/>
        </p:spPr>
        <p:txBody>
          <a:bodyPr wrap="square" lIns="0" tIns="0" rIns="0" bIns="0" rtlCol="0" anchor="ctr"/>
          <a:lstStyle/>
          <a:p>
            <a:pPr marL="0" indent="0" algn="ctr">
              <a:buNone/>
            </a:pPr>
            <a:r>
              <a:rPr lang="en-US" sz="1100">
                <a:solidFill>
                  <a:srgbClr val="292934"/>
                </a:solidFill>
                <a:latin typeface="Tahoma" pitchFamily="34" charset="0"/>
                <a:ea typeface="Tahoma" pitchFamily="34" charset="-122"/>
                <a:cs typeface="Tahoma" pitchFamily="34" charset="-120"/>
              </a:rPr>
              <a:t>Sickness survey (SSQ)</a:t>
            </a:r>
            <a:endParaRPr lang="en-US" sz="1100"/>
          </a:p>
        </p:txBody>
      </p:sp>
      <p:sp>
        <p:nvSpPr>
          <p:cNvPr id="18" name="Text 16"/>
          <p:cNvSpPr txBox="1"/>
          <p:nvPr/>
        </p:nvSpPr>
        <p:spPr>
          <a:xfrm>
            <a:off x="5212080" y="3886200"/>
            <a:ext cx="3566160" cy="274320"/>
          </a:xfrm>
          <a:prstGeom prst="rect">
            <a:avLst/>
          </a:prstGeom>
          <a:noFill/>
          <a:ln/>
        </p:spPr>
        <p:txBody>
          <a:bodyPr wrap="square" lIns="0" tIns="0" rIns="0" bIns="0" rtlCol="0" anchor="ctr"/>
          <a:lstStyle/>
          <a:p>
            <a:pPr marL="0" indent="0" algn="ctr">
              <a:buNone/>
            </a:pPr>
            <a:r>
              <a:rPr lang="en-US" sz="1100" i="1">
                <a:solidFill>
                  <a:srgbClr val="595959"/>
                </a:solidFill>
                <a:latin typeface="Tahoma" pitchFamily="34" charset="0"/>
                <a:ea typeface="Tahoma" pitchFamily="34" charset="-122"/>
                <a:cs typeface="Tahoma" pitchFamily="34" charset="-120"/>
              </a:rPr>
              <a:t>Top-down: one factor, two questions, three measures</a:t>
            </a:r>
            <a:endParaRPr lang="en-US" sz="1100"/>
          </a:p>
        </p:txBody>
      </p:sp>
      <p:sp>
        <p:nvSpPr>
          <p:cNvPr id="25" name="Slide Number Placeholder 0"/>
          <p:cNvSpPr>
            <a:spLocks noGrp="1"/>
          </p:cNvSpPr>
          <p:nvPr>
            <p:ph type="sldNum" sz="quarter" idx="4294967295"/>
          </p:nvPr>
        </p:nvSpPr>
        <p:spPr>
          <a:xfrm>
            <a:off x="8412480" y="4800600"/>
            <a:ext cx="469466"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F7F7F"/>
                </a:solidFill>
                <a:latin typeface="Tahoma"/>
                <a:ea typeface="Tahoma"/>
                <a:cs typeface="Tahoma"/>
              </a:defRPr>
            </a:lvl1pPr>
          </a:lstStyle>
          <a:p>
            <a:pPr algn="r"/>
            <a:fld id="{F7021451-1387-4CA6-816F-3879F97B5CBC}" type="slidenum">
              <a:rPr lang="en-US" b="0" smtClean="0"/>
              <a:t>5</a:t>
            </a:fld>
            <a:r>
              <a:rPr lang="en-US" b="0" dirty="0"/>
              <a:t>/12</a:t>
            </a:r>
            <a:endParaRPr lang="en-US" dirty="0"/>
          </a:p>
        </p:txBody>
      </p:sp>
      <p:pic>
        <p:nvPicPr>
          <p:cNvPr id="19" name="Recording (2)">
            <a:hlinkClick r:id="" action="ppaction://media"/>
            <a:extLst>
              <a:ext uri="{FF2B5EF4-FFF2-40B4-BE49-F238E27FC236}">
                <a16:creationId xmlns:a16="http://schemas.microsoft.com/office/drawing/2014/main" id="{294CCC93-F6AB-53B3-C8EA-9CB38C3AF6A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304448" y="4158088"/>
            <a:ext cx="730250" cy="73025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9"/>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9"/>
                                        </p:tgtEl>
                                      </p:cBhvr>
                                    </p:cmd>
                                  </p:childTnLst>
                                </p:cTn>
                              </p:par>
                            </p:childTnLst>
                          </p:cTn>
                        </p:par>
                      </p:childTnLst>
                    </p:cTn>
                  </p:par>
                </p:childTnLst>
              </p:cTn>
              <p:nextCondLst>
                <p:cond evt="onClick" delay="0">
                  <p:tgtEl>
                    <p:spTgt spid="19"/>
                  </p:tgtEl>
                </p:cond>
              </p:nextCondLst>
            </p:seq>
            <p:audio>
              <p:cMediaNode>
                <p:cTn id="7" fill="hold" display="0">
                  <p:stCondLst>
                    <p:cond delay="indefinite"/>
                  </p:stCondLst>
                  <p:endCondLst>
                    <p:cond evt="onStopAudio" delay="0">
                      <p:tgtEl>
                        <p:sldTgt/>
                      </p:tgtEl>
                    </p:cond>
                  </p:endCondLst>
                </p:cTn>
                <p:tgtEl>
                  <p:spTgt spid="19"/>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80376"/>
            <a:ext cx="8229600" cy="640080"/>
          </a:xfrm>
          <a:prstGeom prst="rect">
            <a:avLst/>
          </a:prstGeom>
          <a:noFill/>
          <a:ln/>
        </p:spPr>
        <p:txBody>
          <a:bodyPr wrap="square" lIns="0" tIns="0" rIns="0" bIns="0" rtlCol="0" anchor="ctr"/>
          <a:lstStyle/>
          <a:p>
            <a:pPr marL="0" indent="0" algn="l">
              <a:buNone/>
            </a:pPr>
            <a:r>
              <a:rPr lang="en-US" sz="2500">
                <a:solidFill>
                  <a:srgbClr val="292934"/>
                </a:solidFill>
                <a:latin typeface="Tahoma" pitchFamily="34" charset="0"/>
                <a:ea typeface="Tahoma" pitchFamily="34" charset="-122"/>
                <a:cs typeface="Tahoma" pitchFamily="34" charset="-120"/>
              </a:rPr>
              <a:t>Experiment: apparatus and task</a:t>
            </a:r>
            <a:endParaRPr lang="en-US" sz="2500"/>
          </a:p>
        </p:txBody>
      </p:sp>
      <p:sp>
        <p:nvSpPr>
          <p:cNvPr id="3" name="Bullets"/>
          <p:cNvSpPr txBox="1"/>
          <p:nvPr/>
        </p:nvSpPr>
        <p:spPr>
          <a:xfrm>
            <a:off x="457200" y="1051560"/>
            <a:ext cx="4597790" cy="3246120"/>
          </a:xfrm>
          <a:prstGeom prst="rect">
            <a:avLst/>
          </a:prstGeom>
          <a:noFill/>
          <a:ln/>
        </p:spPr>
        <p:txBody>
          <a:bodyPr wrap="square" lIns="0" tIns="0" rIns="0" bIns="0" rtlCol="0" anchor="t"/>
          <a:lstStyle/>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Meta Quest 3 headset</a:t>
            </a:r>
            <a:r>
              <a:rPr lang="en-US" sz="1600">
                <a:solidFill>
                  <a:srgbClr val="292934"/>
                </a:solidFill>
                <a:latin typeface="Tahoma" pitchFamily="34" charset="0"/>
                <a:ea typeface="Tahoma" pitchFamily="34" charset="-122"/>
                <a:cs typeface="Tahoma" pitchFamily="34" charset="-120"/>
              </a:rPr>
              <a:t> - standalone, no PC or cables, and a team member already owns one</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Built in Unity</a:t>
            </a:r>
            <a:r>
              <a:rPr lang="en-US" sz="1600">
                <a:solidFill>
                  <a:srgbClr val="292934"/>
                </a:solidFill>
                <a:latin typeface="Tahoma" pitchFamily="34" charset="0"/>
                <a:ea typeface="Tahoma" pitchFamily="34" charset="-122"/>
                <a:cs typeface="Tahoma" pitchFamily="34" charset="-120"/>
              </a:rPr>
              <a:t> - the XR Interaction Toolkit supplies joystick and teleport; the app logs position and time</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Task: flip 3 levers, then exit</a:t>
            </a:r>
            <a:r>
              <a:rPr lang="en-US" sz="1600">
                <a:solidFill>
                  <a:srgbClr val="292934"/>
                </a:solidFill>
                <a:latin typeface="Tahoma" pitchFamily="34" charset="0"/>
                <a:ea typeface="Tahoma" pitchFamily="34" charset="-122"/>
                <a:cs typeface="Tahoma" pitchFamily="34" charset="-120"/>
              </a:rPr>
              <a:t> - each lever opens the gate to the next room; the third unlocks the exit</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Why levers and gates</a:t>
            </a:r>
            <a:r>
              <a:rPr lang="en-US" sz="1600">
                <a:solidFill>
                  <a:srgbClr val="292934"/>
                </a:solidFill>
                <a:latin typeface="Tahoma" pitchFamily="34" charset="0"/>
                <a:ea typeface="Tahoma" pitchFamily="34" charset="-122"/>
                <a:cs typeface="Tahoma" pitchFamily="34" charset="-120"/>
              </a:rPr>
              <a:t> - users must search each room, so losing track costs time, and nobody gets stuck</a:t>
            </a:r>
            <a:endParaRPr lang="en-US" sz="1600"/>
          </a:p>
        </p:txBody>
      </p:sp>
      <p:sp>
        <p:nvSpPr>
          <p:cNvPr id="4" name="Shape 2"/>
          <p:cNvSpPr/>
          <p:nvPr/>
        </p:nvSpPr>
        <p:spPr>
          <a:xfrm>
            <a:off x="5257800" y="1463040"/>
            <a:ext cx="3291840" cy="0"/>
          </a:xfrm>
          <a:prstGeom prst="line">
            <a:avLst/>
          </a:prstGeom>
          <a:noFill/>
          <a:ln w="22225">
            <a:solidFill>
              <a:srgbClr val="292934"/>
            </a:solidFill>
            <a:prstDash val="solid"/>
            <a:tailEnd type="none"/>
          </a:ln>
        </p:spPr>
        <p:txBody>
          <a:bodyPr/>
          <a:lstStyle/>
          <a:p>
            <a:endParaRPr lang="en-US"/>
          </a:p>
        </p:txBody>
      </p:sp>
      <p:sp>
        <p:nvSpPr>
          <p:cNvPr id="5" name="Shape 3"/>
          <p:cNvSpPr/>
          <p:nvPr/>
        </p:nvSpPr>
        <p:spPr>
          <a:xfrm>
            <a:off x="5257800" y="3200400"/>
            <a:ext cx="3291840" cy="0"/>
          </a:xfrm>
          <a:prstGeom prst="line">
            <a:avLst/>
          </a:prstGeom>
          <a:noFill/>
          <a:ln w="22225">
            <a:solidFill>
              <a:srgbClr val="292934"/>
            </a:solidFill>
            <a:prstDash val="solid"/>
            <a:tailEnd type="none"/>
          </a:ln>
        </p:spPr>
        <p:txBody>
          <a:bodyPr/>
          <a:lstStyle/>
          <a:p>
            <a:endParaRPr lang="en-US"/>
          </a:p>
        </p:txBody>
      </p:sp>
      <p:sp>
        <p:nvSpPr>
          <p:cNvPr id="6" name="Shape 4"/>
          <p:cNvSpPr/>
          <p:nvPr/>
        </p:nvSpPr>
        <p:spPr>
          <a:xfrm>
            <a:off x="5257800" y="1463040"/>
            <a:ext cx="0" cy="1737360"/>
          </a:xfrm>
          <a:prstGeom prst="line">
            <a:avLst/>
          </a:prstGeom>
          <a:noFill/>
          <a:ln w="22225">
            <a:solidFill>
              <a:srgbClr val="292934"/>
            </a:solidFill>
            <a:prstDash val="solid"/>
            <a:tailEnd type="none"/>
          </a:ln>
        </p:spPr>
        <p:txBody>
          <a:bodyPr/>
          <a:lstStyle/>
          <a:p>
            <a:endParaRPr lang="en-US"/>
          </a:p>
        </p:txBody>
      </p:sp>
      <p:sp>
        <p:nvSpPr>
          <p:cNvPr id="7" name="Shape 5"/>
          <p:cNvSpPr/>
          <p:nvPr/>
        </p:nvSpPr>
        <p:spPr>
          <a:xfrm>
            <a:off x="6355080" y="1463040"/>
            <a:ext cx="0" cy="685800"/>
          </a:xfrm>
          <a:prstGeom prst="line">
            <a:avLst/>
          </a:prstGeom>
          <a:noFill/>
          <a:ln w="22225">
            <a:solidFill>
              <a:srgbClr val="292934"/>
            </a:solidFill>
            <a:prstDash val="solid"/>
            <a:tailEnd type="none"/>
          </a:ln>
        </p:spPr>
        <p:txBody>
          <a:bodyPr/>
          <a:lstStyle/>
          <a:p>
            <a:endParaRPr lang="en-US"/>
          </a:p>
        </p:txBody>
      </p:sp>
      <p:sp>
        <p:nvSpPr>
          <p:cNvPr id="8" name="Shape 6"/>
          <p:cNvSpPr/>
          <p:nvPr/>
        </p:nvSpPr>
        <p:spPr>
          <a:xfrm>
            <a:off x="6355080" y="2514600"/>
            <a:ext cx="0" cy="685800"/>
          </a:xfrm>
          <a:prstGeom prst="line">
            <a:avLst/>
          </a:prstGeom>
          <a:noFill/>
          <a:ln w="22225">
            <a:solidFill>
              <a:srgbClr val="292934"/>
            </a:solidFill>
            <a:prstDash val="solid"/>
            <a:tailEnd type="none"/>
          </a:ln>
        </p:spPr>
        <p:txBody>
          <a:bodyPr/>
          <a:lstStyle/>
          <a:p>
            <a:endParaRPr lang="en-US"/>
          </a:p>
        </p:txBody>
      </p:sp>
      <p:sp>
        <p:nvSpPr>
          <p:cNvPr id="9" name="Shape 7"/>
          <p:cNvSpPr/>
          <p:nvPr/>
        </p:nvSpPr>
        <p:spPr>
          <a:xfrm>
            <a:off x="6355080" y="2148840"/>
            <a:ext cx="0" cy="365760"/>
          </a:xfrm>
          <a:prstGeom prst="line">
            <a:avLst/>
          </a:prstGeom>
          <a:noFill/>
          <a:ln w="19050">
            <a:solidFill>
              <a:srgbClr val="C00000"/>
            </a:solidFill>
            <a:prstDash val="sysDash"/>
            <a:tailEnd type="none"/>
          </a:ln>
        </p:spPr>
        <p:txBody>
          <a:bodyPr/>
          <a:lstStyle/>
          <a:p>
            <a:endParaRPr lang="en-US"/>
          </a:p>
        </p:txBody>
      </p:sp>
      <p:sp>
        <p:nvSpPr>
          <p:cNvPr id="10" name="Shape 8"/>
          <p:cNvSpPr/>
          <p:nvPr/>
        </p:nvSpPr>
        <p:spPr>
          <a:xfrm>
            <a:off x="7452360" y="1463040"/>
            <a:ext cx="0" cy="685800"/>
          </a:xfrm>
          <a:prstGeom prst="line">
            <a:avLst/>
          </a:prstGeom>
          <a:noFill/>
          <a:ln w="22225">
            <a:solidFill>
              <a:srgbClr val="292934"/>
            </a:solidFill>
            <a:prstDash val="solid"/>
            <a:tailEnd type="none"/>
          </a:ln>
        </p:spPr>
        <p:txBody>
          <a:bodyPr/>
          <a:lstStyle/>
          <a:p>
            <a:endParaRPr lang="en-US"/>
          </a:p>
        </p:txBody>
      </p:sp>
      <p:sp>
        <p:nvSpPr>
          <p:cNvPr id="11" name="Shape 9"/>
          <p:cNvSpPr/>
          <p:nvPr/>
        </p:nvSpPr>
        <p:spPr>
          <a:xfrm>
            <a:off x="7452360" y="2514600"/>
            <a:ext cx="0" cy="685800"/>
          </a:xfrm>
          <a:prstGeom prst="line">
            <a:avLst/>
          </a:prstGeom>
          <a:noFill/>
          <a:ln w="22225">
            <a:solidFill>
              <a:srgbClr val="292934"/>
            </a:solidFill>
            <a:prstDash val="solid"/>
            <a:tailEnd type="none"/>
          </a:ln>
        </p:spPr>
        <p:txBody>
          <a:bodyPr/>
          <a:lstStyle/>
          <a:p>
            <a:endParaRPr lang="en-US"/>
          </a:p>
        </p:txBody>
      </p:sp>
      <p:sp>
        <p:nvSpPr>
          <p:cNvPr id="12" name="Shape 10"/>
          <p:cNvSpPr/>
          <p:nvPr/>
        </p:nvSpPr>
        <p:spPr>
          <a:xfrm>
            <a:off x="7452360" y="2148840"/>
            <a:ext cx="0" cy="365760"/>
          </a:xfrm>
          <a:prstGeom prst="line">
            <a:avLst/>
          </a:prstGeom>
          <a:noFill/>
          <a:ln w="19050">
            <a:solidFill>
              <a:srgbClr val="C00000"/>
            </a:solidFill>
            <a:prstDash val="sysDash"/>
            <a:tailEnd type="none"/>
          </a:ln>
        </p:spPr>
        <p:txBody>
          <a:bodyPr/>
          <a:lstStyle/>
          <a:p>
            <a:endParaRPr lang="en-US"/>
          </a:p>
        </p:txBody>
      </p:sp>
      <p:sp>
        <p:nvSpPr>
          <p:cNvPr id="13" name="Shape 11"/>
          <p:cNvSpPr/>
          <p:nvPr/>
        </p:nvSpPr>
        <p:spPr>
          <a:xfrm>
            <a:off x="8549640" y="1463040"/>
            <a:ext cx="0" cy="685800"/>
          </a:xfrm>
          <a:prstGeom prst="line">
            <a:avLst/>
          </a:prstGeom>
          <a:noFill/>
          <a:ln w="22225">
            <a:solidFill>
              <a:srgbClr val="292934"/>
            </a:solidFill>
            <a:prstDash val="solid"/>
            <a:tailEnd type="none"/>
          </a:ln>
        </p:spPr>
        <p:txBody>
          <a:bodyPr/>
          <a:lstStyle/>
          <a:p>
            <a:endParaRPr lang="en-US"/>
          </a:p>
        </p:txBody>
      </p:sp>
      <p:sp>
        <p:nvSpPr>
          <p:cNvPr id="14" name="Shape 12"/>
          <p:cNvSpPr/>
          <p:nvPr/>
        </p:nvSpPr>
        <p:spPr>
          <a:xfrm>
            <a:off x="8549640" y="2514600"/>
            <a:ext cx="0" cy="685800"/>
          </a:xfrm>
          <a:prstGeom prst="line">
            <a:avLst/>
          </a:prstGeom>
          <a:noFill/>
          <a:ln w="22225">
            <a:solidFill>
              <a:srgbClr val="292934"/>
            </a:solidFill>
            <a:prstDash val="solid"/>
            <a:tailEnd type="none"/>
          </a:ln>
        </p:spPr>
        <p:txBody>
          <a:bodyPr/>
          <a:lstStyle/>
          <a:p>
            <a:endParaRPr lang="en-US"/>
          </a:p>
        </p:txBody>
      </p:sp>
      <p:sp>
        <p:nvSpPr>
          <p:cNvPr id="15" name="Shape 13"/>
          <p:cNvSpPr/>
          <p:nvPr/>
        </p:nvSpPr>
        <p:spPr>
          <a:xfrm>
            <a:off x="5394960" y="2103120"/>
            <a:ext cx="182880" cy="182880"/>
          </a:xfrm>
          <a:prstGeom prst="rect">
            <a:avLst/>
          </a:prstGeom>
          <a:ln w="12700">
            <a:solidFill>
              <a:srgbClr val="BFBFBF"/>
            </a:solidFill>
            <a:prstDash val="solid"/>
          </a:ln>
        </p:spPr>
        <p:txBody>
          <a:bodyPr/>
          <a:lstStyle/>
          <a:p>
            <a:endParaRPr lang="en-US"/>
          </a:p>
        </p:txBody>
      </p:sp>
      <p:sp>
        <p:nvSpPr>
          <p:cNvPr id="16" name="Shape 14"/>
          <p:cNvSpPr/>
          <p:nvPr/>
        </p:nvSpPr>
        <p:spPr>
          <a:xfrm>
            <a:off x="6062472" y="2606040"/>
            <a:ext cx="182880" cy="182880"/>
          </a:xfrm>
          <a:prstGeom prst="rect">
            <a:avLst/>
          </a:prstGeom>
          <a:ln w="12700">
            <a:solidFill>
              <a:srgbClr val="BFBFBF"/>
            </a:solidFill>
            <a:prstDash val="solid"/>
          </a:ln>
        </p:spPr>
        <p:txBody>
          <a:bodyPr/>
          <a:lstStyle/>
          <a:p>
            <a:endParaRPr lang="en-US"/>
          </a:p>
        </p:txBody>
      </p:sp>
      <p:sp>
        <p:nvSpPr>
          <p:cNvPr id="17" name="Shape 15"/>
          <p:cNvSpPr/>
          <p:nvPr/>
        </p:nvSpPr>
        <p:spPr>
          <a:xfrm>
            <a:off x="6583680" y="1737360"/>
            <a:ext cx="182880" cy="182880"/>
          </a:xfrm>
          <a:prstGeom prst="rect">
            <a:avLst/>
          </a:prstGeom>
          <a:ln w="12700">
            <a:solidFill>
              <a:srgbClr val="BFBFBF"/>
            </a:solidFill>
            <a:prstDash val="solid"/>
          </a:ln>
        </p:spPr>
        <p:txBody>
          <a:bodyPr/>
          <a:lstStyle/>
          <a:p>
            <a:endParaRPr lang="en-US"/>
          </a:p>
        </p:txBody>
      </p:sp>
      <p:sp>
        <p:nvSpPr>
          <p:cNvPr id="18" name="Shape 16"/>
          <p:cNvSpPr/>
          <p:nvPr/>
        </p:nvSpPr>
        <p:spPr>
          <a:xfrm>
            <a:off x="7132320" y="1737360"/>
            <a:ext cx="182880" cy="182880"/>
          </a:xfrm>
          <a:prstGeom prst="rect">
            <a:avLst/>
          </a:prstGeom>
          <a:ln w="12700">
            <a:solidFill>
              <a:srgbClr val="BFBFBF"/>
            </a:solidFill>
            <a:prstDash val="solid"/>
          </a:ln>
        </p:spPr>
        <p:txBody>
          <a:bodyPr/>
          <a:lstStyle/>
          <a:p>
            <a:endParaRPr lang="en-US"/>
          </a:p>
        </p:txBody>
      </p:sp>
      <p:sp>
        <p:nvSpPr>
          <p:cNvPr id="19" name="Shape 17"/>
          <p:cNvSpPr/>
          <p:nvPr/>
        </p:nvSpPr>
        <p:spPr>
          <a:xfrm>
            <a:off x="7680960" y="2743200"/>
            <a:ext cx="182880" cy="182880"/>
          </a:xfrm>
          <a:prstGeom prst="rect">
            <a:avLst/>
          </a:prstGeom>
          <a:ln w="12700">
            <a:solidFill>
              <a:srgbClr val="BFBFBF"/>
            </a:solidFill>
            <a:prstDash val="solid"/>
          </a:ln>
        </p:spPr>
        <p:txBody>
          <a:bodyPr/>
          <a:lstStyle/>
          <a:p>
            <a:endParaRPr lang="en-US"/>
          </a:p>
        </p:txBody>
      </p:sp>
      <p:sp>
        <p:nvSpPr>
          <p:cNvPr id="20" name="Shape 18"/>
          <p:cNvSpPr/>
          <p:nvPr/>
        </p:nvSpPr>
        <p:spPr>
          <a:xfrm>
            <a:off x="8183880" y="2788920"/>
            <a:ext cx="182880" cy="182880"/>
          </a:xfrm>
          <a:prstGeom prst="rect">
            <a:avLst/>
          </a:prstGeom>
          <a:ln w="12700">
            <a:solidFill>
              <a:srgbClr val="BFBFBF"/>
            </a:solidFill>
            <a:prstDash val="solid"/>
          </a:ln>
        </p:spPr>
        <p:txBody>
          <a:bodyPr/>
          <a:lstStyle/>
          <a:p>
            <a:endParaRPr lang="en-US"/>
          </a:p>
        </p:txBody>
      </p:sp>
      <p:sp>
        <p:nvSpPr>
          <p:cNvPr id="21" name="Shape 19"/>
          <p:cNvSpPr/>
          <p:nvPr/>
        </p:nvSpPr>
        <p:spPr>
          <a:xfrm flipV="1">
            <a:off x="5486400" y="1874520"/>
            <a:ext cx="594360" cy="1051560"/>
          </a:xfrm>
          <a:prstGeom prst="line">
            <a:avLst/>
          </a:prstGeom>
          <a:noFill/>
          <a:ln w="15875">
            <a:solidFill>
              <a:srgbClr val="C00000"/>
            </a:solidFill>
            <a:prstDash val="dash"/>
            <a:tailEnd type="none"/>
          </a:ln>
        </p:spPr>
        <p:txBody>
          <a:bodyPr/>
          <a:lstStyle/>
          <a:p>
            <a:endParaRPr lang="en-US"/>
          </a:p>
        </p:txBody>
      </p:sp>
      <p:sp>
        <p:nvSpPr>
          <p:cNvPr id="22" name="Shape 20"/>
          <p:cNvSpPr/>
          <p:nvPr/>
        </p:nvSpPr>
        <p:spPr>
          <a:xfrm>
            <a:off x="6080760" y="1874520"/>
            <a:ext cx="274320" cy="457200"/>
          </a:xfrm>
          <a:prstGeom prst="line">
            <a:avLst/>
          </a:prstGeom>
          <a:noFill/>
          <a:ln w="15875">
            <a:solidFill>
              <a:srgbClr val="C00000"/>
            </a:solidFill>
            <a:prstDash val="dash"/>
            <a:tailEnd type="none"/>
          </a:ln>
        </p:spPr>
        <p:txBody>
          <a:bodyPr/>
          <a:lstStyle/>
          <a:p>
            <a:endParaRPr lang="en-US"/>
          </a:p>
        </p:txBody>
      </p:sp>
      <p:sp>
        <p:nvSpPr>
          <p:cNvPr id="23" name="Shape 21"/>
          <p:cNvSpPr/>
          <p:nvPr/>
        </p:nvSpPr>
        <p:spPr>
          <a:xfrm>
            <a:off x="6355080" y="2331720"/>
            <a:ext cx="548640" cy="457200"/>
          </a:xfrm>
          <a:prstGeom prst="line">
            <a:avLst/>
          </a:prstGeom>
          <a:noFill/>
          <a:ln w="15875">
            <a:solidFill>
              <a:srgbClr val="C00000"/>
            </a:solidFill>
            <a:prstDash val="dash"/>
            <a:tailEnd type="none"/>
          </a:ln>
        </p:spPr>
        <p:txBody>
          <a:bodyPr/>
          <a:lstStyle/>
          <a:p>
            <a:endParaRPr lang="en-US"/>
          </a:p>
        </p:txBody>
      </p:sp>
      <p:sp>
        <p:nvSpPr>
          <p:cNvPr id="24" name="Shape 22"/>
          <p:cNvSpPr/>
          <p:nvPr/>
        </p:nvSpPr>
        <p:spPr>
          <a:xfrm flipV="1">
            <a:off x="6903720" y="2331720"/>
            <a:ext cx="548640" cy="457200"/>
          </a:xfrm>
          <a:prstGeom prst="line">
            <a:avLst/>
          </a:prstGeom>
          <a:noFill/>
          <a:ln w="15875">
            <a:solidFill>
              <a:srgbClr val="C00000"/>
            </a:solidFill>
            <a:prstDash val="dash"/>
            <a:tailEnd type="none"/>
          </a:ln>
        </p:spPr>
        <p:txBody>
          <a:bodyPr/>
          <a:lstStyle/>
          <a:p>
            <a:endParaRPr lang="en-US"/>
          </a:p>
        </p:txBody>
      </p:sp>
      <p:sp>
        <p:nvSpPr>
          <p:cNvPr id="25" name="Shape 23"/>
          <p:cNvSpPr/>
          <p:nvPr/>
        </p:nvSpPr>
        <p:spPr>
          <a:xfrm flipV="1">
            <a:off x="7452360" y="1874520"/>
            <a:ext cx="548640" cy="457200"/>
          </a:xfrm>
          <a:prstGeom prst="line">
            <a:avLst/>
          </a:prstGeom>
          <a:noFill/>
          <a:ln w="15875">
            <a:solidFill>
              <a:srgbClr val="C00000"/>
            </a:solidFill>
            <a:prstDash val="dash"/>
            <a:tailEnd type="none"/>
          </a:ln>
        </p:spPr>
        <p:txBody>
          <a:bodyPr/>
          <a:lstStyle/>
          <a:p>
            <a:endParaRPr lang="en-US"/>
          </a:p>
        </p:txBody>
      </p:sp>
      <p:sp>
        <p:nvSpPr>
          <p:cNvPr id="26" name="Shape 24"/>
          <p:cNvSpPr/>
          <p:nvPr/>
        </p:nvSpPr>
        <p:spPr>
          <a:xfrm>
            <a:off x="8001000" y="1874520"/>
            <a:ext cx="548640" cy="457200"/>
          </a:xfrm>
          <a:prstGeom prst="line">
            <a:avLst/>
          </a:prstGeom>
          <a:noFill/>
          <a:ln w="15875">
            <a:solidFill>
              <a:srgbClr val="C00000"/>
            </a:solidFill>
            <a:prstDash val="dash"/>
            <a:tailEnd type="none"/>
          </a:ln>
        </p:spPr>
        <p:txBody>
          <a:bodyPr/>
          <a:lstStyle/>
          <a:p>
            <a:endParaRPr lang="en-US"/>
          </a:p>
        </p:txBody>
      </p:sp>
      <p:sp>
        <p:nvSpPr>
          <p:cNvPr id="27" name="Shape 25"/>
          <p:cNvSpPr/>
          <p:nvPr/>
        </p:nvSpPr>
        <p:spPr>
          <a:xfrm>
            <a:off x="8549640" y="2331720"/>
            <a:ext cx="274320" cy="0"/>
          </a:xfrm>
          <a:prstGeom prst="line">
            <a:avLst/>
          </a:prstGeom>
          <a:noFill/>
          <a:ln w="15875">
            <a:solidFill>
              <a:srgbClr val="C00000"/>
            </a:solidFill>
            <a:prstDash val="dash"/>
            <a:tailEnd type="triangle"/>
          </a:ln>
        </p:spPr>
        <p:txBody>
          <a:bodyPr/>
          <a:lstStyle/>
          <a:p>
            <a:endParaRPr lang="en-US"/>
          </a:p>
        </p:txBody>
      </p:sp>
      <p:sp>
        <p:nvSpPr>
          <p:cNvPr id="28" name="Shape 26"/>
          <p:cNvSpPr/>
          <p:nvPr/>
        </p:nvSpPr>
        <p:spPr>
          <a:xfrm>
            <a:off x="5413248" y="2852928"/>
            <a:ext cx="146304" cy="146304"/>
          </a:xfrm>
          <a:prstGeom prst="ellipse">
            <a:avLst/>
          </a:prstGeom>
          <a:solidFill>
            <a:srgbClr val="292934"/>
          </a:solidFill>
          <a:ln w="15875">
            <a:solidFill>
              <a:srgbClr val="292934"/>
            </a:solidFill>
            <a:prstDash val="solid"/>
          </a:ln>
        </p:spPr>
        <p:txBody>
          <a:bodyPr/>
          <a:lstStyle/>
          <a:p>
            <a:endParaRPr lang="en-US"/>
          </a:p>
        </p:txBody>
      </p:sp>
      <p:sp>
        <p:nvSpPr>
          <p:cNvPr id="29" name="Shape 27"/>
          <p:cNvSpPr/>
          <p:nvPr/>
        </p:nvSpPr>
        <p:spPr>
          <a:xfrm>
            <a:off x="5998464" y="1792224"/>
            <a:ext cx="164592" cy="164592"/>
          </a:xfrm>
          <a:prstGeom prst="ellipse">
            <a:avLst/>
          </a:prstGeom>
          <a:solidFill>
            <a:srgbClr val="C00000"/>
          </a:solidFill>
          <a:ln w="15875">
            <a:solidFill>
              <a:srgbClr val="C00000"/>
            </a:solidFill>
            <a:prstDash val="solid"/>
          </a:ln>
        </p:spPr>
        <p:txBody>
          <a:bodyPr/>
          <a:lstStyle/>
          <a:p>
            <a:endParaRPr lang="en-US"/>
          </a:p>
        </p:txBody>
      </p:sp>
      <p:sp>
        <p:nvSpPr>
          <p:cNvPr id="30" name="Text 28"/>
          <p:cNvSpPr txBox="1"/>
          <p:nvPr/>
        </p:nvSpPr>
        <p:spPr>
          <a:xfrm>
            <a:off x="5943600" y="1545336"/>
            <a:ext cx="274320" cy="219456"/>
          </a:xfrm>
          <a:prstGeom prst="rect">
            <a:avLst/>
          </a:prstGeom>
          <a:noFill/>
          <a:ln/>
        </p:spPr>
        <p:txBody>
          <a:bodyPr wrap="square" lIns="0" tIns="0" rIns="0" bIns="0" rtlCol="0" anchor="ctr"/>
          <a:lstStyle/>
          <a:p>
            <a:pPr marL="0" indent="0" algn="ctr">
              <a:buNone/>
            </a:pPr>
            <a:r>
              <a:rPr lang="en-US" sz="1100" b="1">
                <a:solidFill>
                  <a:srgbClr val="C00000"/>
                </a:solidFill>
                <a:latin typeface="Tahoma" pitchFamily="34" charset="0"/>
                <a:ea typeface="Tahoma" pitchFamily="34" charset="-122"/>
                <a:cs typeface="Tahoma" pitchFamily="34" charset="-120"/>
              </a:rPr>
              <a:t>L1</a:t>
            </a:r>
            <a:endParaRPr lang="en-US" sz="1100"/>
          </a:p>
        </p:txBody>
      </p:sp>
      <p:sp>
        <p:nvSpPr>
          <p:cNvPr id="31" name="Shape 29"/>
          <p:cNvSpPr/>
          <p:nvPr/>
        </p:nvSpPr>
        <p:spPr>
          <a:xfrm>
            <a:off x="6821424" y="2706624"/>
            <a:ext cx="164592" cy="164592"/>
          </a:xfrm>
          <a:prstGeom prst="ellipse">
            <a:avLst/>
          </a:prstGeom>
          <a:solidFill>
            <a:srgbClr val="C00000"/>
          </a:solidFill>
          <a:ln w="15875">
            <a:solidFill>
              <a:srgbClr val="C00000"/>
            </a:solidFill>
            <a:prstDash val="solid"/>
          </a:ln>
        </p:spPr>
        <p:txBody>
          <a:bodyPr/>
          <a:lstStyle/>
          <a:p>
            <a:endParaRPr lang="en-US"/>
          </a:p>
        </p:txBody>
      </p:sp>
      <p:sp>
        <p:nvSpPr>
          <p:cNvPr id="32" name="Text 30"/>
          <p:cNvSpPr txBox="1"/>
          <p:nvPr/>
        </p:nvSpPr>
        <p:spPr>
          <a:xfrm>
            <a:off x="6766560" y="2880360"/>
            <a:ext cx="274320" cy="219456"/>
          </a:xfrm>
          <a:prstGeom prst="rect">
            <a:avLst/>
          </a:prstGeom>
          <a:noFill/>
          <a:ln/>
        </p:spPr>
        <p:txBody>
          <a:bodyPr wrap="square" lIns="0" tIns="0" rIns="0" bIns="0" rtlCol="0" anchor="ctr"/>
          <a:lstStyle/>
          <a:p>
            <a:pPr marL="0" indent="0" algn="ctr">
              <a:buNone/>
            </a:pPr>
            <a:r>
              <a:rPr lang="en-US" sz="1100" b="1">
                <a:solidFill>
                  <a:srgbClr val="C00000"/>
                </a:solidFill>
                <a:latin typeface="Tahoma" pitchFamily="34" charset="0"/>
                <a:ea typeface="Tahoma" pitchFamily="34" charset="-122"/>
                <a:cs typeface="Tahoma" pitchFamily="34" charset="-120"/>
              </a:rPr>
              <a:t>L2</a:t>
            </a:r>
            <a:endParaRPr lang="en-US" sz="1100"/>
          </a:p>
        </p:txBody>
      </p:sp>
      <p:sp>
        <p:nvSpPr>
          <p:cNvPr id="33" name="Shape 31"/>
          <p:cNvSpPr/>
          <p:nvPr/>
        </p:nvSpPr>
        <p:spPr>
          <a:xfrm>
            <a:off x="7918704" y="1792224"/>
            <a:ext cx="164592" cy="164592"/>
          </a:xfrm>
          <a:prstGeom prst="ellipse">
            <a:avLst/>
          </a:prstGeom>
          <a:solidFill>
            <a:srgbClr val="C00000"/>
          </a:solidFill>
          <a:ln w="15875">
            <a:solidFill>
              <a:srgbClr val="C00000"/>
            </a:solidFill>
            <a:prstDash val="solid"/>
          </a:ln>
        </p:spPr>
        <p:txBody>
          <a:bodyPr/>
          <a:lstStyle/>
          <a:p>
            <a:endParaRPr lang="en-US"/>
          </a:p>
        </p:txBody>
      </p:sp>
      <p:sp>
        <p:nvSpPr>
          <p:cNvPr id="34" name="Text 32"/>
          <p:cNvSpPr txBox="1"/>
          <p:nvPr/>
        </p:nvSpPr>
        <p:spPr>
          <a:xfrm>
            <a:off x="7863840" y="1545336"/>
            <a:ext cx="274320" cy="219456"/>
          </a:xfrm>
          <a:prstGeom prst="rect">
            <a:avLst/>
          </a:prstGeom>
          <a:noFill/>
          <a:ln/>
        </p:spPr>
        <p:txBody>
          <a:bodyPr wrap="square" lIns="0" tIns="0" rIns="0" bIns="0" rtlCol="0" anchor="ctr"/>
          <a:lstStyle/>
          <a:p>
            <a:pPr marL="0" indent="0" algn="ctr">
              <a:buNone/>
            </a:pPr>
            <a:r>
              <a:rPr lang="en-US" sz="1100" b="1">
                <a:solidFill>
                  <a:srgbClr val="C00000"/>
                </a:solidFill>
                <a:latin typeface="Tahoma" pitchFamily="34" charset="0"/>
                <a:ea typeface="Tahoma" pitchFamily="34" charset="-122"/>
                <a:cs typeface="Tahoma" pitchFamily="34" charset="-120"/>
              </a:rPr>
              <a:t>L3</a:t>
            </a:r>
            <a:endParaRPr lang="en-US" sz="1100"/>
          </a:p>
        </p:txBody>
      </p:sp>
      <p:sp>
        <p:nvSpPr>
          <p:cNvPr id="35" name="Text 33"/>
          <p:cNvSpPr txBox="1"/>
          <p:nvPr/>
        </p:nvSpPr>
        <p:spPr>
          <a:xfrm>
            <a:off x="5257800" y="1188720"/>
            <a:ext cx="1097280" cy="228600"/>
          </a:xfrm>
          <a:prstGeom prst="rect">
            <a:avLst/>
          </a:prstGeom>
          <a:noFill/>
          <a:ln/>
        </p:spPr>
        <p:txBody>
          <a:bodyPr wrap="square" lIns="0" tIns="0" rIns="0" bIns="0" rtlCol="0" anchor="ctr"/>
          <a:lstStyle/>
          <a:p>
            <a:pPr marL="0" indent="0" algn="ctr">
              <a:buNone/>
            </a:pPr>
            <a:r>
              <a:rPr lang="en-US" sz="1100">
                <a:solidFill>
                  <a:srgbClr val="595959"/>
                </a:solidFill>
                <a:latin typeface="Tahoma" pitchFamily="34" charset="0"/>
                <a:ea typeface="Tahoma" pitchFamily="34" charset="-122"/>
                <a:cs typeface="Tahoma" pitchFamily="34" charset="-120"/>
              </a:rPr>
              <a:t>Room 1</a:t>
            </a:r>
            <a:endParaRPr lang="en-US" sz="1100"/>
          </a:p>
        </p:txBody>
      </p:sp>
      <p:sp>
        <p:nvSpPr>
          <p:cNvPr id="36" name="Text 34"/>
          <p:cNvSpPr txBox="1"/>
          <p:nvPr/>
        </p:nvSpPr>
        <p:spPr>
          <a:xfrm>
            <a:off x="6355080" y="1188720"/>
            <a:ext cx="1097280" cy="228600"/>
          </a:xfrm>
          <a:prstGeom prst="rect">
            <a:avLst/>
          </a:prstGeom>
          <a:noFill/>
          <a:ln/>
        </p:spPr>
        <p:txBody>
          <a:bodyPr wrap="square" lIns="0" tIns="0" rIns="0" bIns="0" rtlCol="0" anchor="ctr"/>
          <a:lstStyle/>
          <a:p>
            <a:pPr marL="0" indent="0" algn="ctr">
              <a:buNone/>
            </a:pPr>
            <a:r>
              <a:rPr lang="en-US" sz="1100">
                <a:solidFill>
                  <a:srgbClr val="595959"/>
                </a:solidFill>
                <a:latin typeface="Tahoma" pitchFamily="34" charset="0"/>
                <a:ea typeface="Tahoma" pitchFamily="34" charset="-122"/>
                <a:cs typeface="Tahoma" pitchFamily="34" charset="-120"/>
              </a:rPr>
              <a:t>Room 2</a:t>
            </a:r>
            <a:endParaRPr lang="en-US" sz="1100"/>
          </a:p>
        </p:txBody>
      </p:sp>
      <p:sp>
        <p:nvSpPr>
          <p:cNvPr id="37" name="Text 35"/>
          <p:cNvSpPr txBox="1"/>
          <p:nvPr/>
        </p:nvSpPr>
        <p:spPr>
          <a:xfrm>
            <a:off x="7452360" y="1188720"/>
            <a:ext cx="1097280" cy="228600"/>
          </a:xfrm>
          <a:prstGeom prst="rect">
            <a:avLst/>
          </a:prstGeom>
          <a:noFill/>
          <a:ln/>
        </p:spPr>
        <p:txBody>
          <a:bodyPr wrap="square" lIns="0" tIns="0" rIns="0" bIns="0" rtlCol="0" anchor="ctr"/>
          <a:lstStyle/>
          <a:p>
            <a:pPr marL="0" indent="0" algn="ctr">
              <a:buNone/>
            </a:pPr>
            <a:r>
              <a:rPr lang="en-US" sz="1100">
                <a:solidFill>
                  <a:srgbClr val="595959"/>
                </a:solidFill>
                <a:latin typeface="Tahoma" pitchFamily="34" charset="0"/>
                <a:ea typeface="Tahoma" pitchFamily="34" charset="-122"/>
                <a:cs typeface="Tahoma" pitchFamily="34" charset="-120"/>
              </a:rPr>
              <a:t>Room 3</a:t>
            </a:r>
            <a:endParaRPr lang="en-US" sz="1100"/>
          </a:p>
        </p:txBody>
      </p:sp>
      <p:sp>
        <p:nvSpPr>
          <p:cNvPr id="38" name="Text 36"/>
          <p:cNvSpPr txBox="1"/>
          <p:nvPr/>
        </p:nvSpPr>
        <p:spPr>
          <a:xfrm>
            <a:off x="5596128" y="2816352"/>
            <a:ext cx="457200" cy="219456"/>
          </a:xfrm>
          <a:prstGeom prst="rect">
            <a:avLst/>
          </a:prstGeom>
          <a:noFill/>
          <a:ln/>
        </p:spPr>
        <p:txBody>
          <a:bodyPr wrap="square" lIns="0" tIns="0" rIns="0" bIns="0" rtlCol="0" anchor="ctr"/>
          <a:lstStyle/>
          <a:p>
            <a:pPr marL="0" indent="0" algn="l">
              <a:buNone/>
            </a:pPr>
            <a:r>
              <a:rPr lang="en-US" sz="1100">
                <a:solidFill>
                  <a:srgbClr val="595959"/>
                </a:solidFill>
                <a:latin typeface="Tahoma" pitchFamily="34" charset="0"/>
                <a:ea typeface="Tahoma" pitchFamily="34" charset="-122"/>
                <a:cs typeface="Tahoma" pitchFamily="34" charset="-120"/>
              </a:rPr>
              <a:t>Start</a:t>
            </a:r>
            <a:endParaRPr lang="en-US" sz="1100"/>
          </a:p>
        </p:txBody>
      </p:sp>
      <p:sp>
        <p:nvSpPr>
          <p:cNvPr id="39" name="Text 37"/>
          <p:cNvSpPr txBox="1"/>
          <p:nvPr/>
        </p:nvSpPr>
        <p:spPr>
          <a:xfrm>
            <a:off x="8595360" y="1947672"/>
            <a:ext cx="411480" cy="219456"/>
          </a:xfrm>
          <a:prstGeom prst="rect">
            <a:avLst/>
          </a:prstGeom>
          <a:noFill/>
          <a:ln/>
        </p:spPr>
        <p:txBody>
          <a:bodyPr wrap="square" lIns="0" tIns="0" rIns="0" bIns="0" rtlCol="0" anchor="ctr"/>
          <a:lstStyle/>
          <a:p>
            <a:pPr marL="0" indent="0" algn="l">
              <a:buNone/>
            </a:pPr>
            <a:r>
              <a:rPr lang="en-US" sz="1100">
                <a:solidFill>
                  <a:srgbClr val="595959"/>
                </a:solidFill>
                <a:latin typeface="Tahoma" pitchFamily="34" charset="0"/>
                <a:ea typeface="Tahoma" pitchFamily="34" charset="-122"/>
                <a:cs typeface="Tahoma" pitchFamily="34" charset="-120"/>
              </a:rPr>
              <a:t>Exit</a:t>
            </a:r>
            <a:endParaRPr lang="en-US" sz="1100"/>
          </a:p>
        </p:txBody>
      </p:sp>
      <p:sp>
        <p:nvSpPr>
          <p:cNvPr id="40" name="Text 38"/>
          <p:cNvSpPr txBox="1"/>
          <p:nvPr/>
        </p:nvSpPr>
        <p:spPr>
          <a:xfrm>
            <a:off x="5257800" y="3310128"/>
            <a:ext cx="3566160" cy="411480"/>
          </a:xfrm>
          <a:prstGeom prst="rect">
            <a:avLst/>
          </a:prstGeom>
          <a:noFill/>
          <a:ln/>
        </p:spPr>
        <p:txBody>
          <a:bodyPr wrap="square" lIns="0" tIns="0" rIns="0" bIns="0" rtlCol="0" anchor="t"/>
          <a:lstStyle/>
          <a:p>
            <a:pPr marL="0" indent="0" algn="l">
              <a:buNone/>
            </a:pPr>
            <a:r>
              <a:rPr lang="en-US" sz="1100">
                <a:solidFill>
                  <a:srgbClr val="595959"/>
                </a:solidFill>
                <a:latin typeface="Tahoma" pitchFamily="34" charset="0"/>
                <a:ea typeface="Tahoma" pitchFamily="34" charset="-122"/>
                <a:cs typeface="Tahoma" pitchFamily="34" charset="-120"/>
              </a:rPr>
              <a:t>L = lever. Each lever opens the next gate (dashed); lever 3 unlocks the exit. 5-minute cap; practice room before each method.</a:t>
            </a:r>
            <a:endParaRPr lang="en-US" sz="1100"/>
          </a:p>
        </p:txBody>
      </p:sp>
      <p:sp>
        <p:nvSpPr>
          <p:cNvPr id="41" name="Slide Number Placeholder 0"/>
          <p:cNvSpPr>
            <a:spLocks noGrp="1"/>
          </p:cNvSpPr>
          <p:nvPr>
            <p:ph type="sldNum" sz="quarter" idx="4294967295"/>
          </p:nvPr>
        </p:nvSpPr>
        <p:spPr>
          <a:xfrm>
            <a:off x="8412479" y="4800600"/>
            <a:ext cx="483239"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F7F7F"/>
                </a:solidFill>
                <a:latin typeface="Tahoma"/>
                <a:ea typeface="Tahoma"/>
                <a:cs typeface="Tahoma"/>
              </a:defRPr>
            </a:lvl1pPr>
          </a:lstStyle>
          <a:p>
            <a:pPr algn="r"/>
            <a:fld id="{F7021451-1387-4CA6-816F-3879F97B5CBC}" type="slidenum">
              <a:rPr lang="en-US" b="0" smtClean="0"/>
              <a:t>6</a:t>
            </a:fld>
            <a:r>
              <a:rPr lang="en-US" b="0" dirty="0"/>
              <a:t>/12</a:t>
            </a:r>
            <a:endParaRPr lang="en-US" dirty="0"/>
          </a:p>
        </p:txBody>
      </p:sp>
      <p:pic>
        <p:nvPicPr>
          <p:cNvPr id="42" name="Expeirement">
            <a:hlinkClick r:id="" action="ppaction://media"/>
            <a:extLst>
              <a:ext uri="{FF2B5EF4-FFF2-40B4-BE49-F238E27FC236}">
                <a16:creationId xmlns:a16="http://schemas.microsoft.com/office/drawing/2014/main" id="{0B98EA49-0FD8-D348-4653-189403A30ECF}"/>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304067" y="4189779"/>
            <a:ext cx="730250" cy="73025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2"/>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2"/>
                                        </p:tgtEl>
                                      </p:cBhvr>
                                    </p:cmd>
                                  </p:childTnLst>
                                </p:cTn>
                              </p:par>
                            </p:childTnLst>
                          </p:cTn>
                        </p:par>
                      </p:childTnLst>
                    </p:cTn>
                  </p:par>
                </p:childTnLst>
              </p:cTn>
              <p:nextCondLst>
                <p:cond evt="onClick" delay="0">
                  <p:tgtEl>
                    <p:spTgt spid="42"/>
                  </p:tgtEl>
                </p:cond>
              </p:nextCondLst>
            </p:seq>
            <p:audio>
              <p:cMediaNode>
                <p:cTn id="7" fill="hold" display="0">
                  <p:stCondLst>
                    <p:cond delay="indefinite"/>
                  </p:stCondLst>
                  <p:endCondLst>
                    <p:cond evt="onStopAudio" delay="0">
                      <p:tgtEl>
                        <p:sldTgt/>
                      </p:tgtEl>
                    </p:cond>
                  </p:endCondLst>
                </p:cTn>
                <p:tgtEl>
                  <p:spTgt spid="4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500">
                <a:solidFill>
                  <a:srgbClr val="292934"/>
                </a:solidFill>
                <a:latin typeface="Tahoma" pitchFamily="34" charset="0"/>
                <a:ea typeface="Tahoma" pitchFamily="34" charset="-122"/>
                <a:cs typeface="Tahoma" pitchFamily="34" charset="-120"/>
              </a:rPr>
              <a:t>Independent variable: three movement methods</a:t>
            </a:r>
            <a:endParaRPr lang="en-US" sz="2500"/>
          </a:p>
        </p:txBody>
      </p:sp>
      <p:sp>
        <p:nvSpPr>
          <p:cNvPr id="3" name="Bullets"/>
          <p:cNvSpPr txBox="1"/>
          <p:nvPr/>
        </p:nvSpPr>
        <p:spPr>
          <a:xfrm>
            <a:off x="457200" y="1075983"/>
            <a:ext cx="4627098" cy="3221697"/>
          </a:xfrm>
          <a:prstGeom prst="rect">
            <a:avLst/>
          </a:prstGeom>
          <a:noFill/>
          <a:ln/>
        </p:spPr>
        <p:txBody>
          <a:bodyPr wrap="square" lIns="0" tIns="0" rIns="0" bIns="0" rtlCol="0" anchor="t"/>
          <a:lstStyle/>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Joystick</a:t>
            </a:r>
            <a:r>
              <a:rPr lang="en-US" sz="1600">
                <a:solidFill>
                  <a:srgbClr val="292934"/>
                </a:solidFill>
                <a:latin typeface="Tahoma" pitchFamily="34" charset="0"/>
                <a:ea typeface="Tahoma" pitchFamily="34" charset="-122"/>
                <a:cs typeface="Tahoma" pitchFamily="34" charset="-120"/>
              </a:rPr>
              <a:t> - push the thumbstick and glide continuously at a fixed walking speed</a:t>
            </a:r>
            <a:endParaRPr lang="en-US" sz="1600"/>
          </a:p>
          <a:p>
            <a:pPr marL="177800" indent="-177800">
              <a:spcAft>
                <a:spcPts val="900"/>
              </a:spcAft>
              <a:buSzPct val="100000"/>
              <a:buChar char="•"/>
            </a:pPr>
            <a:r>
              <a:rPr lang="en-US" sz="1600" b="1">
                <a:solidFill>
                  <a:srgbClr val="C00000"/>
                </a:solidFill>
                <a:latin typeface="Tahoma"/>
                <a:ea typeface="Tahoma"/>
                <a:cs typeface="Tahoma"/>
              </a:rPr>
              <a:t>Teleport</a:t>
            </a:r>
            <a:r>
              <a:rPr lang="en-US" sz="1600">
                <a:solidFill>
                  <a:srgbClr val="292934"/>
                </a:solidFill>
                <a:latin typeface="Tahoma"/>
                <a:ea typeface="Tahoma"/>
                <a:cs typeface="Tahoma"/>
              </a:rPr>
              <a:t> - point at the floor, release, and jump there instantly</a:t>
            </a:r>
            <a:endParaRPr lang="en-US" sz="1600">
              <a:latin typeface="Tahoma"/>
              <a:ea typeface="Tahoma"/>
              <a:cs typeface="Tahoma"/>
            </a:endParaRPr>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Trail-assisted teleport</a:t>
            </a:r>
            <a:r>
              <a:rPr lang="en-US" sz="1600">
                <a:solidFill>
                  <a:srgbClr val="292934"/>
                </a:solidFill>
                <a:latin typeface="Tahoma" pitchFamily="34" charset="0"/>
                <a:ea typeface="Tahoma" pitchFamily="34" charset="-122"/>
                <a:cs typeface="Tahoma" pitchFamily="34" charset="-120"/>
              </a:rPr>
              <a:t> - same teleport, but every landing leaves a floor marker joined by a line</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Held constant</a:t>
            </a:r>
            <a:r>
              <a:rPr lang="en-US" sz="1600">
                <a:solidFill>
                  <a:srgbClr val="292934"/>
                </a:solidFill>
                <a:latin typeface="Tahoma" pitchFamily="34" charset="0"/>
                <a:ea typeface="Tahoma" pitchFamily="34" charset="-122"/>
                <a:cs typeface="Tahoma" pitchFamily="34" charset="-120"/>
              </a:rPr>
              <a:t> - turning, the rooms, and practice time are the same in all three</a:t>
            </a:r>
            <a:endParaRPr lang="en-US" sz="1600"/>
          </a:p>
        </p:txBody>
      </p:sp>
      <p:sp>
        <p:nvSpPr>
          <p:cNvPr id="4" name="Text 2"/>
          <p:cNvSpPr txBox="1"/>
          <p:nvPr/>
        </p:nvSpPr>
        <p:spPr>
          <a:xfrm>
            <a:off x="5394960" y="1097280"/>
            <a:ext cx="3291840" cy="256032"/>
          </a:xfrm>
          <a:prstGeom prst="rect">
            <a:avLst/>
          </a:prstGeom>
          <a:noFill/>
          <a:ln/>
        </p:spPr>
        <p:txBody>
          <a:bodyPr wrap="square" lIns="0" tIns="0" rIns="0" bIns="0" rtlCol="0" anchor="ctr"/>
          <a:lstStyle/>
          <a:p>
            <a:pPr marL="0" indent="0" algn="l">
              <a:buNone/>
            </a:pPr>
            <a:r>
              <a:rPr lang="en-US" sz="1200" b="1">
                <a:solidFill>
                  <a:srgbClr val="292934"/>
                </a:solidFill>
                <a:latin typeface="Tahoma" pitchFamily="34" charset="0"/>
                <a:ea typeface="Tahoma" pitchFamily="34" charset="-122"/>
                <a:cs typeface="Tahoma" pitchFamily="34" charset="-120"/>
              </a:rPr>
              <a:t>Joystick</a:t>
            </a:r>
            <a:endParaRPr lang="en-US" sz="1200"/>
          </a:p>
        </p:txBody>
      </p:sp>
      <p:sp>
        <p:nvSpPr>
          <p:cNvPr id="5" name="Shape 3"/>
          <p:cNvSpPr/>
          <p:nvPr/>
        </p:nvSpPr>
        <p:spPr>
          <a:xfrm>
            <a:off x="5413248" y="1527048"/>
            <a:ext cx="146304" cy="146304"/>
          </a:xfrm>
          <a:prstGeom prst="ellipse">
            <a:avLst/>
          </a:prstGeom>
          <a:solidFill>
            <a:srgbClr val="292934"/>
          </a:solidFill>
          <a:ln w="15875">
            <a:solidFill>
              <a:srgbClr val="292934"/>
            </a:solidFill>
            <a:prstDash val="solid"/>
          </a:ln>
        </p:spPr>
        <p:txBody>
          <a:bodyPr/>
          <a:lstStyle/>
          <a:p>
            <a:endParaRPr lang="en-US"/>
          </a:p>
        </p:txBody>
      </p:sp>
      <p:sp>
        <p:nvSpPr>
          <p:cNvPr id="6" name="Shape 4"/>
          <p:cNvSpPr/>
          <p:nvPr/>
        </p:nvSpPr>
        <p:spPr>
          <a:xfrm>
            <a:off x="5559552" y="1600200"/>
            <a:ext cx="2990088" cy="0"/>
          </a:xfrm>
          <a:prstGeom prst="line">
            <a:avLst/>
          </a:prstGeom>
          <a:noFill/>
          <a:ln w="22225">
            <a:solidFill>
              <a:srgbClr val="292934"/>
            </a:solidFill>
            <a:prstDash val="solid"/>
            <a:tailEnd type="triangle"/>
          </a:ln>
        </p:spPr>
        <p:txBody>
          <a:bodyPr/>
          <a:lstStyle/>
          <a:p>
            <a:endParaRPr lang="en-US"/>
          </a:p>
        </p:txBody>
      </p:sp>
      <p:sp>
        <p:nvSpPr>
          <p:cNvPr id="7" name="Text 5"/>
          <p:cNvSpPr txBox="1"/>
          <p:nvPr/>
        </p:nvSpPr>
        <p:spPr>
          <a:xfrm>
            <a:off x="5394960" y="1719072"/>
            <a:ext cx="3291840" cy="228600"/>
          </a:xfrm>
          <a:prstGeom prst="rect">
            <a:avLst/>
          </a:prstGeom>
          <a:noFill/>
          <a:ln/>
        </p:spPr>
        <p:txBody>
          <a:bodyPr wrap="square" lIns="0" tIns="0" rIns="0" bIns="0" rtlCol="0" anchor="ctr"/>
          <a:lstStyle/>
          <a:p>
            <a:pPr marL="0" indent="0" algn="l">
              <a:buNone/>
            </a:pPr>
            <a:r>
              <a:rPr lang="en-US" sz="1100">
                <a:solidFill>
                  <a:srgbClr val="595959"/>
                </a:solidFill>
                <a:latin typeface="Tahoma" pitchFamily="34" charset="0"/>
                <a:ea typeface="Tahoma" pitchFamily="34" charset="-122"/>
                <a:cs typeface="Tahoma" pitchFamily="34" charset="-120"/>
              </a:rPr>
              <a:t>Continuous glide</a:t>
            </a:r>
            <a:endParaRPr lang="en-US" sz="1100"/>
          </a:p>
        </p:txBody>
      </p:sp>
      <p:sp>
        <p:nvSpPr>
          <p:cNvPr id="8" name="Text 6"/>
          <p:cNvSpPr txBox="1"/>
          <p:nvPr/>
        </p:nvSpPr>
        <p:spPr>
          <a:xfrm>
            <a:off x="5394960" y="2148840"/>
            <a:ext cx="3291840" cy="256032"/>
          </a:xfrm>
          <a:prstGeom prst="rect">
            <a:avLst/>
          </a:prstGeom>
          <a:noFill/>
          <a:ln/>
        </p:spPr>
        <p:txBody>
          <a:bodyPr wrap="square" lIns="0" tIns="0" rIns="0" bIns="0" rtlCol="0" anchor="ctr"/>
          <a:lstStyle/>
          <a:p>
            <a:pPr marL="0" indent="0" algn="l">
              <a:buNone/>
            </a:pPr>
            <a:r>
              <a:rPr lang="en-US" sz="1200" b="1">
                <a:solidFill>
                  <a:srgbClr val="292934"/>
                </a:solidFill>
                <a:latin typeface="Tahoma" pitchFamily="34" charset="0"/>
                <a:ea typeface="Tahoma" pitchFamily="34" charset="-122"/>
                <a:cs typeface="Tahoma" pitchFamily="34" charset="-120"/>
              </a:rPr>
              <a:t>Teleport</a:t>
            </a:r>
            <a:endParaRPr lang="en-US" sz="1200"/>
          </a:p>
        </p:txBody>
      </p:sp>
      <p:sp>
        <p:nvSpPr>
          <p:cNvPr id="9" name="Shape 7"/>
          <p:cNvSpPr/>
          <p:nvPr/>
        </p:nvSpPr>
        <p:spPr>
          <a:xfrm>
            <a:off x="5413248" y="2578608"/>
            <a:ext cx="146304" cy="146304"/>
          </a:xfrm>
          <a:prstGeom prst="ellipse">
            <a:avLst/>
          </a:prstGeom>
          <a:solidFill>
            <a:srgbClr val="FFFFFF"/>
          </a:solidFill>
          <a:ln w="15875">
            <a:solidFill>
              <a:srgbClr val="BFBFBF"/>
            </a:solidFill>
            <a:prstDash val="sysDash"/>
          </a:ln>
        </p:spPr>
        <p:txBody>
          <a:bodyPr/>
          <a:lstStyle/>
          <a:p>
            <a:endParaRPr lang="en-US"/>
          </a:p>
        </p:txBody>
      </p:sp>
      <p:sp>
        <p:nvSpPr>
          <p:cNvPr id="10" name="Shape 8"/>
          <p:cNvSpPr/>
          <p:nvPr/>
        </p:nvSpPr>
        <p:spPr>
          <a:xfrm>
            <a:off x="6181344" y="2578608"/>
            <a:ext cx="146304" cy="146304"/>
          </a:xfrm>
          <a:prstGeom prst="ellipse">
            <a:avLst/>
          </a:prstGeom>
          <a:solidFill>
            <a:srgbClr val="FFFFFF"/>
          </a:solidFill>
          <a:ln w="15875">
            <a:solidFill>
              <a:srgbClr val="BFBFBF"/>
            </a:solidFill>
            <a:prstDash val="sysDash"/>
          </a:ln>
        </p:spPr>
        <p:txBody>
          <a:bodyPr/>
          <a:lstStyle/>
          <a:p>
            <a:endParaRPr lang="en-US"/>
          </a:p>
        </p:txBody>
      </p:sp>
      <p:sp>
        <p:nvSpPr>
          <p:cNvPr id="11" name="Shape 9"/>
          <p:cNvSpPr/>
          <p:nvPr/>
        </p:nvSpPr>
        <p:spPr>
          <a:xfrm>
            <a:off x="6949440" y="2578608"/>
            <a:ext cx="146304" cy="146304"/>
          </a:xfrm>
          <a:prstGeom prst="ellipse">
            <a:avLst/>
          </a:prstGeom>
          <a:solidFill>
            <a:srgbClr val="FFFFFF"/>
          </a:solidFill>
          <a:ln w="15875">
            <a:solidFill>
              <a:srgbClr val="BFBFBF"/>
            </a:solidFill>
            <a:prstDash val="sysDash"/>
          </a:ln>
        </p:spPr>
        <p:txBody>
          <a:bodyPr/>
          <a:lstStyle/>
          <a:p>
            <a:endParaRPr lang="en-US"/>
          </a:p>
        </p:txBody>
      </p:sp>
      <p:sp>
        <p:nvSpPr>
          <p:cNvPr id="12" name="Shape 10"/>
          <p:cNvSpPr/>
          <p:nvPr/>
        </p:nvSpPr>
        <p:spPr>
          <a:xfrm>
            <a:off x="7717536" y="2578608"/>
            <a:ext cx="146304" cy="146304"/>
          </a:xfrm>
          <a:prstGeom prst="ellipse">
            <a:avLst/>
          </a:prstGeom>
          <a:solidFill>
            <a:srgbClr val="FFFFFF"/>
          </a:solidFill>
          <a:ln w="15875">
            <a:solidFill>
              <a:srgbClr val="BFBFBF"/>
            </a:solidFill>
            <a:prstDash val="sysDash"/>
          </a:ln>
        </p:spPr>
        <p:txBody>
          <a:bodyPr/>
          <a:lstStyle/>
          <a:p>
            <a:endParaRPr lang="en-US"/>
          </a:p>
        </p:txBody>
      </p:sp>
      <p:sp>
        <p:nvSpPr>
          <p:cNvPr id="13" name="Shape 11"/>
          <p:cNvSpPr/>
          <p:nvPr/>
        </p:nvSpPr>
        <p:spPr>
          <a:xfrm>
            <a:off x="8485632" y="2578608"/>
            <a:ext cx="146304" cy="146304"/>
          </a:xfrm>
          <a:prstGeom prst="ellipse">
            <a:avLst/>
          </a:prstGeom>
          <a:solidFill>
            <a:srgbClr val="292934"/>
          </a:solidFill>
          <a:ln w="15875">
            <a:solidFill>
              <a:srgbClr val="292934"/>
            </a:solidFill>
            <a:prstDash val="solid"/>
          </a:ln>
        </p:spPr>
        <p:txBody>
          <a:bodyPr/>
          <a:lstStyle/>
          <a:p>
            <a:endParaRPr lang="en-US"/>
          </a:p>
        </p:txBody>
      </p:sp>
      <p:sp>
        <p:nvSpPr>
          <p:cNvPr id="14" name="Text 12"/>
          <p:cNvSpPr txBox="1"/>
          <p:nvPr/>
        </p:nvSpPr>
        <p:spPr>
          <a:xfrm>
            <a:off x="5394960" y="2770632"/>
            <a:ext cx="3291840" cy="228600"/>
          </a:xfrm>
          <a:prstGeom prst="rect">
            <a:avLst/>
          </a:prstGeom>
          <a:noFill/>
          <a:ln/>
        </p:spPr>
        <p:txBody>
          <a:bodyPr wrap="square" lIns="0" tIns="0" rIns="0" bIns="0" rtlCol="0" anchor="ctr"/>
          <a:lstStyle/>
          <a:p>
            <a:pPr marL="0" indent="0" algn="l">
              <a:buNone/>
            </a:pPr>
            <a:r>
              <a:rPr lang="en-US" sz="1100">
                <a:solidFill>
                  <a:srgbClr val="595959"/>
                </a:solidFill>
                <a:latin typeface="Tahoma" pitchFamily="34" charset="0"/>
                <a:ea typeface="Tahoma" pitchFamily="34" charset="-122"/>
                <a:cs typeface="Tahoma" pitchFamily="34" charset="-120"/>
              </a:rPr>
              <a:t>Jump; nothing is left behind</a:t>
            </a:r>
            <a:endParaRPr lang="en-US" sz="1100"/>
          </a:p>
        </p:txBody>
      </p:sp>
      <p:sp>
        <p:nvSpPr>
          <p:cNvPr id="15" name="Text 13"/>
          <p:cNvSpPr txBox="1"/>
          <p:nvPr/>
        </p:nvSpPr>
        <p:spPr>
          <a:xfrm>
            <a:off x="5394960" y="3200400"/>
            <a:ext cx="3291840" cy="256032"/>
          </a:xfrm>
          <a:prstGeom prst="rect">
            <a:avLst/>
          </a:prstGeom>
          <a:noFill/>
          <a:ln/>
        </p:spPr>
        <p:txBody>
          <a:bodyPr wrap="square" lIns="0" tIns="0" rIns="0" bIns="0" rtlCol="0" anchor="ctr"/>
          <a:lstStyle/>
          <a:p>
            <a:pPr marL="0" indent="0" algn="l">
              <a:buNone/>
            </a:pPr>
            <a:r>
              <a:rPr lang="en-US" sz="1200" b="1">
                <a:solidFill>
                  <a:srgbClr val="C00000"/>
                </a:solidFill>
                <a:latin typeface="Tahoma" pitchFamily="34" charset="0"/>
                <a:ea typeface="Tahoma" pitchFamily="34" charset="-122"/>
                <a:cs typeface="Tahoma" pitchFamily="34" charset="-120"/>
              </a:rPr>
              <a:t>Trail-assisted teleport</a:t>
            </a:r>
            <a:endParaRPr lang="en-US" sz="1200"/>
          </a:p>
        </p:txBody>
      </p:sp>
      <p:sp>
        <p:nvSpPr>
          <p:cNvPr id="16" name="Shape 14"/>
          <p:cNvSpPr/>
          <p:nvPr/>
        </p:nvSpPr>
        <p:spPr>
          <a:xfrm>
            <a:off x="5486400" y="3703320"/>
            <a:ext cx="3072384" cy="0"/>
          </a:xfrm>
          <a:prstGeom prst="line">
            <a:avLst/>
          </a:prstGeom>
          <a:noFill/>
          <a:ln w="19050">
            <a:solidFill>
              <a:srgbClr val="C00000"/>
            </a:solidFill>
            <a:prstDash val="solid"/>
            <a:tailEnd type="none"/>
          </a:ln>
        </p:spPr>
        <p:txBody>
          <a:bodyPr/>
          <a:lstStyle/>
          <a:p>
            <a:endParaRPr lang="en-US"/>
          </a:p>
        </p:txBody>
      </p:sp>
      <p:sp>
        <p:nvSpPr>
          <p:cNvPr id="17" name="Shape 15"/>
          <p:cNvSpPr/>
          <p:nvPr/>
        </p:nvSpPr>
        <p:spPr>
          <a:xfrm>
            <a:off x="5413248" y="3630168"/>
            <a:ext cx="146304" cy="146304"/>
          </a:xfrm>
          <a:prstGeom prst="ellipse">
            <a:avLst/>
          </a:prstGeom>
          <a:solidFill>
            <a:srgbClr val="C00000"/>
          </a:solidFill>
          <a:ln w="15875">
            <a:solidFill>
              <a:srgbClr val="C00000"/>
            </a:solidFill>
            <a:prstDash val="solid"/>
          </a:ln>
        </p:spPr>
        <p:txBody>
          <a:bodyPr/>
          <a:lstStyle/>
          <a:p>
            <a:endParaRPr lang="en-US"/>
          </a:p>
        </p:txBody>
      </p:sp>
      <p:sp>
        <p:nvSpPr>
          <p:cNvPr id="18" name="Shape 16"/>
          <p:cNvSpPr/>
          <p:nvPr/>
        </p:nvSpPr>
        <p:spPr>
          <a:xfrm>
            <a:off x="6181344" y="3630168"/>
            <a:ext cx="146304" cy="146304"/>
          </a:xfrm>
          <a:prstGeom prst="ellipse">
            <a:avLst/>
          </a:prstGeom>
          <a:solidFill>
            <a:srgbClr val="C00000"/>
          </a:solidFill>
          <a:ln w="15875">
            <a:solidFill>
              <a:srgbClr val="C00000"/>
            </a:solidFill>
            <a:prstDash val="solid"/>
          </a:ln>
        </p:spPr>
        <p:txBody>
          <a:bodyPr/>
          <a:lstStyle/>
          <a:p>
            <a:endParaRPr lang="en-US"/>
          </a:p>
        </p:txBody>
      </p:sp>
      <p:sp>
        <p:nvSpPr>
          <p:cNvPr id="19" name="Shape 17"/>
          <p:cNvSpPr/>
          <p:nvPr/>
        </p:nvSpPr>
        <p:spPr>
          <a:xfrm>
            <a:off x="6949440" y="3630168"/>
            <a:ext cx="146304" cy="146304"/>
          </a:xfrm>
          <a:prstGeom prst="ellipse">
            <a:avLst/>
          </a:prstGeom>
          <a:solidFill>
            <a:srgbClr val="C00000"/>
          </a:solidFill>
          <a:ln w="15875">
            <a:solidFill>
              <a:srgbClr val="C00000"/>
            </a:solidFill>
            <a:prstDash val="solid"/>
          </a:ln>
        </p:spPr>
        <p:txBody>
          <a:bodyPr/>
          <a:lstStyle/>
          <a:p>
            <a:endParaRPr lang="en-US"/>
          </a:p>
        </p:txBody>
      </p:sp>
      <p:sp>
        <p:nvSpPr>
          <p:cNvPr id="20" name="Shape 18"/>
          <p:cNvSpPr/>
          <p:nvPr/>
        </p:nvSpPr>
        <p:spPr>
          <a:xfrm>
            <a:off x="7717536" y="3630168"/>
            <a:ext cx="146304" cy="146304"/>
          </a:xfrm>
          <a:prstGeom prst="ellipse">
            <a:avLst/>
          </a:prstGeom>
          <a:solidFill>
            <a:srgbClr val="C00000"/>
          </a:solidFill>
          <a:ln w="15875">
            <a:solidFill>
              <a:srgbClr val="C00000"/>
            </a:solidFill>
            <a:prstDash val="solid"/>
          </a:ln>
        </p:spPr>
        <p:txBody>
          <a:bodyPr/>
          <a:lstStyle/>
          <a:p>
            <a:endParaRPr lang="en-US"/>
          </a:p>
        </p:txBody>
      </p:sp>
      <p:sp>
        <p:nvSpPr>
          <p:cNvPr id="21" name="Shape 19"/>
          <p:cNvSpPr/>
          <p:nvPr/>
        </p:nvSpPr>
        <p:spPr>
          <a:xfrm>
            <a:off x="8485632" y="3630168"/>
            <a:ext cx="146304" cy="146304"/>
          </a:xfrm>
          <a:prstGeom prst="ellipse">
            <a:avLst/>
          </a:prstGeom>
          <a:solidFill>
            <a:srgbClr val="292934"/>
          </a:solidFill>
          <a:ln w="15875">
            <a:solidFill>
              <a:srgbClr val="292934"/>
            </a:solidFill>
            <a:prstDash val="solid"/>
          </a:ln>
        </p:spPr>
        <p:txBody>
          <a:bodyPr/>
          <a:lstStyle/>
          <a:p>
            <a:endParaRPr lang="en-US"/>
          </a:p>
        </p:txBody>
      </p:sp>
      <p:sp>
        <p:nvSpPr>
          <p:cNvPr id="22" name="Text 20"/>
          <p:cNvSpPr txBox="1"/>
          <p:nvPr/>
        </p:nvSpPr>
        <p:spPr>
          <a:xfrm>
            <a:off x="5394960" y="3822192"/>
            <a:ext cx="3291840" cy="228600"/>
          </a:xfrm>
          <a:prstGeom prst="rect">
            <a:avLst/>
          </a:prstGeom>
          <a:noFill/>
          <a:ln/>
        </p:spPr>
        <p:txBody>
          <a:bodyPr wrap="square" lIns="0" tIns="0" rIns="0" bIns="0" rtlCol="0" anchor="ctr"/>
          <a:lstStyle/>
          <a:p>
            <a:pPr marL="0" indent="0" algn="l">
              <a:buNone/>
            </a:pPr>
            <a:r>
              <a:rPr lang="en-US" sz="1100">
                <a:solidFill>
                  <a:srgbClr val="595959"/>
                </a:solidFill>
                <a:latin typeface="Tahoma" pitchFamily="34" charset="0"/>
                <a:ea typeface="Tahoma" pitchFamily="34" charset="-122"/>
                <a:cs typeface="Tahoma" pitchFamily="34" charset="-120"/>
              </a:rPr>
              <a:t>Jump; markers and a line stay on the floor</a:t>
            </a:r>
            <a:endParaRPr lang="en-US" sz="1100"/>
          </a:p>
        </p:txBody>
      </p:sp>
      <p:sp>
        <p:nvSpPr>
          <p:cNvPr id="25" name="Slide Number Placeholder 0"/>
          <p:cNvSpPr>
            <a:spLocks noGrp="1"/>
          </p:cNvSpPr>
          <p:nvPr>
            <p:ph type="sldNum" sz="quarter" idx="4294967295"/>
          </p:nvPr>
        </p:nvSpPr>
        <p:spPr>
          <a:xfrm>
            <a:off x="8412480" y="4800600"/>
            <a:ext cx="477184"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F7F7F"/>
                </a:solidFill>
                <a:latin typeface="Tahoma"/>
                <a:ea typeface="Tahoma"/>
                <a:cs typeface="Tahoma"/>
              </a:defRPr>
            </a:lvl1pPr>
          </a:lstStyle>
          <a:p>
            <a:pPr algn="r"/>
            <a:fld id="{F7021451-1387-4CA6-816F-3879F97B5CBC}" type="slidenum">
              <a:rPr lang="en-US" b="0" smtClean="0"/>
              <a:t>7</a:t>
            </a:fld>
            <a:r>
              <a:rPr lang="en-US" b="0" dirty="0"/>
              <a:t>/12</a:t>
            </a:r>
            <a:endParaRPr lang="en-US" dirty="0"/>
          </a:p>
        </p:txBody>
      </p:sp>
      <p:pic>
        <p:nvPicPr>
          <p:cNvPr id="24" name="independentvar">
            <a:hlinkClick r:id="" action="ppaction://media"/>
            <a:extLst>
              <a:ext uri="{FF2B5EF4-FFF2-40B4-BE49-F238E27FC236}">
                <a16:creationId xmlns:a16="http://schemas.microsoft.com/office/drawing/2014/main" id="{03FB7FA3-F46E-2BFE-441A-63ADF7A93D7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458222" y="4051892"/>
            <a:ext cx="730250" cy="73025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4"/>
                                        </p:tgtEl>
                                      </p:cBhvr>
                                    </p:cmd>
                                  </p:childTnLst>
                                </p:cTn>
                              </p:par>
                            </p:childTnLst>
                          </p:cTn>
                        </p:par>
                      </p:childTnLst>
                    </p:cTn>
                  </p:par>
                </p:childTnLst>
              </p:cTn>
              <p:nextCondLst>
                <p:cond evt="onClick" delay="0">
                  <p:tgtEl>
                    <p:spTgt spid="24"/>
                  </p:tgtEl>
                </p:cond>
              </p:nextCondLst>
            </p:seq>
            <p:audio>
              <p:cMediaNode>
                <p:cTn id="7" fill="hold" display="0">
                  <p:stCondLst>
                    <p:cond delay="indefinite"/>
                  </p:stCondLst>
                  <p:endCondLst>
                    <p:cond evt="onStopAudio" delay="0">
                      <p:tgtEl>
                        <p:sldTgt/>
                      </p:tgtEl>
                    </p:cond>
                  </p:endCondLst>
                </p:cTn>
                <p:tgtEl>
                  <p:spTgt spid="2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500">
                <a:solidFill>
                  <a:srgbClr val="292934"/>
                </a:solidFill>
                <a:latin typeface="Tahoma" pitchFamily="34" charset="0"/>
                <a:ea typeface="Tahoma" pitchFamily="34" charset="-122"/>
                <a:cs typeface="Tahoma" pitchFamily="34" charset="-120"/>
              </a:rPr>
              <a:t>Dependent variables: what we measure</a:t>
            </a:r>
            <a:endParaRPr lang="en-US" sz="2500"/>
          </a:p>
        </p:txBody>
      </p:sp>
      <p:sp>
        <p:nvSpPr>
          <p:cNvPr id="3" name="Bullets"/>
          <p:cNvSpPr txBox="1"/>
          <p:nvPr/>
        </p:nvSpPr>
        <p:spPr>
          <a:xfrm>
            <a:off x="457200" y="1051560"/>
            <a:ext cx="4480560" cy="3246120"/>
          </a:xfrm>
          <a:prstGeom prst="rect">
            <a:avLst/>
          </a:prstGeom>
          <a:noFill/>
          <a:ln/>
        </p:spPr>
        <p:txBody>
          <a:bodyPr wrap="square" lIns="0" tIns="0" rIns="0" bIns="0" rtlCol="0" anchor="t"/>
          <a:lstStyle/>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Completion time</a:t>
            </a:r>
            <a:r>
              <a:rPr lang="en-US" sz="1600">
                <a:solidFill>
                  <a:srgbClr val="292934"/>
                </a:solidFill>
                <a:latin typeface="Tahoma" pitchFamily="34" charset="0"/>
                <a:ea typeface="Tahoma" pitchFamily="34" charset="-122"/>
                <a:cs typeface="Tahoma" pitchFamily="34" charset="-120"/>
              </a:rPr>
              <a:t> - seconds from the start to passing the exit, logged by Unity</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Backtracking</a:t>
            </a:r>
            <a:r>
              <a:rPr lang="en-US" sz="1600">
                <a:solidFill>
                  <a:srgbClr val="292934"/>
                </a:solidFill>
                <a:latin typeface="Tahoma" pitchFamily="34" charset="0"/>
                <a:ea typeface="Tahoma" pitchFamily="34" charset="-122"/>
                <a:cs typeface="Tahoma" pitchFamily="34" charset="-120"/>
              </a:rPr>
              <a:t> - re-entries into floor cells already visited, computed from the position log</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Motion sickness</a:t>
            </a:r>
            <a:r>
              <a:rPr lang="en-US" sz="1600">
                <a:solidFill>
                  <a:srgbClr val="292934"/>
                </a:solidFill>
                <a:latin typeface="Tahoma" pitchFamily="34" charset="0"/>
                <a:ea typeface="Tahoma" pitchFamily="34" charset="-122"/>
                <a:cs typeface="Tahoma" pitchFamily="34" charset="-120"/>
              </a:rPr>
              <a:t> - Simulator Sickness Questionnaire after each method</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Comfort and preference</a:t>
            </a:r>
            <a:r>
              <a:rPr lang="en-US" sz="1600">
                <a:solidFill>
                  <a:srgbClr val="292934"/>
                </a:solidFill>
                <a:latin typeface="Tahoma" pitchFamily="34" charset="0"/>
                <a:ea typeface="Tahoma" pitchFamily="34" charset="-122"/>
                <a:cs typeface="Tahoma" pitchFamily="34" charset="-120"/>
              </a:rPr>
              <a:t> - at the end, participants rank the methods and say which felt most comfortable</a:t>
            </a:r>
            <a:endParaRPr lang="en-US" sz="1600"/>
          </a:p>
        </p:txBody>
      </p:sp>
      <p:sp>
        <p:nvSpPr>
          <p:cNvPr id="4" name="Shape 2"/>
          <p:cNvSpPr/>
          <p:nvPr/>
        </p:nvSpPr>
        <p:spPr>
          <a:xfrm>
            <a:off x="5852160" y="1188720"/>
            <a:ext cx="0" cy="2487168"/>
          </a:xfrm>
          <a:prstGeom prst="line">
            <a:avLst/>
          </a:prstGeom>
          <a:noFill/>
          <a:ln w="9525">
            <a:solidFill>
              <a:srgbClr val="BFBFBF"/>
            </a:solidFill>
            <a:prstDash val="solid"/>
            <a:tailEnd type="none"/>
          </a:ln>
        </p:spPr>
        <p:txBody>
          <a:bodyPr/>
          <a:lstStyle/>
          <a:p>
            <a:endParaRPr lang="en-US"/>
          </a:p>
        </p:txBody>
      </p:sp>
      <p:sp>
        <p:nvSpPr>
          <p:cNvPr id="5" name="Shape 3"/>
          <p:cNvSpPr/>
          <p:nvPr/>
        </p:nvSpPr>
        <p:spPr>
          <a:xfrm>
            <a:off x="5852160" y="1188720"/>
            <a:ext cx="2487168" cy="0"/>
          </a:xfrm>
          <a:prstGeom prst="line">
            <a:avLst/>
          </a:prstGeom>
          <a:noFill/>
          <a:ln w="9525">
            <a:solidFill>
              <a:srgbClr val="BFBFBF"/>
            </a:solidFill>
            <a:prstDash val="solid"/>
            <a:tailEnd type="none"/>
          </a:ln>
        </p:spPr>
        <p:txBody>
          <a:bodyPr/>
          <a:lstStyle/>
          <a:p>
            <a:endParaRPr lang="en-US"/>
          </a:p>
        </p:txBody>
      </p:sp>
      <p:sp>
        <p:nvSpPr>
          <p:cNvPr id="6" name="Shape 4"/>
          <p:cNvSpPr/>
          <p:nvPr/>
        </p:nvSpPr>
        <p:spPr>
          <a:xfrm>
            <a:off x="6473952" y="1188720"/>
            <a:ext cx="0" cy="2487168"/>
          </a:xfrm>
          <a:prstGeom prst="line">
            <a:avLst/>
          </a:prstGeom>
          <a:noFill/>
          <a:ln w="9525">
            <a:solidFill>
              <a:srgbClr val="BFBFBF"/>
            </a:solidFill>
            <a:prstDash val="solid"/>
            <a:tailEnd type="none"/>
          </a:ln>
        </p:spPr>
        <p:txBody>
          <a:bodyPr/>
          <a:lstStyle/>
          <a:p>
            <a:endParaRPr lang="en-US"/>
          </a:p>
        </p:txBody>
      </p:sp>
      <p:sp>
        <p:nvSpPr>
          <p:cNvPr id="7" name="Shape 5"/>
          <p:cNvSpPr/>
          <p:nvPr/>
        </p:nvSpPr>
        <p:spPr>
          <a:xfrm>
            <a:off x="5852160" y="1810512"/>
            <a:ext cx="2487168" cy="0"/>
          </a:xfrm>
          <a:prstGeom prst="line">
            <a:avLst/>
          </a:prstGeom>
          <a:noFill/>
          <a:ln w="9525">
            <a:solidFill>
              <a:srgbClr val="BFBFBF"/>
            </a:solidFill>
            <a:prstDash val="solid"/>
            <a:tailEnd type="none"/>
          </a:ln>
        </p:spPr>
        <p:txBody>
          <a:bodyPr/>
          <a:lstStyle/>
          <a:p>
            <a:endParaRPr lang="en-US"/>
          </a:p>
        </p:txBody>
      </p:sp>
      <p:sp>
        <p:nvSpPr>
          <p:cNvPr id="8" name="Shape 6"/>
          <p:cNvSpPr/>
          <p:nvPr/>
        </p:nvSpPr>
        <p:spPr>
          <a:xfrm>
            <a:off x="7095744" y="1188720"/>
            <a:ext cx="0" cy="2487168"/>
          </a:xfrm>
          <a:prstGeom prst="line">
            <a:avLst/>
          </a:prstGeom>
          <a:noFill/>
          <a:ln w="9525">
            <a:solidFill>
              <a:srgbClr val="BFBFBF"/>
            </a:solidFill>
            <a:prstDash val="solid"/>
            <a:tailEnd type="none"/>
          </a:ln>
        </p:spPr>
        <p:txBody>
          <a:bodyPr/>
          <a:lstStyle/>
          <a:p>
            <a:endParaRPr lang="en-US"/>
          </a:p>
        </p:txBody>
      </p:sp>
      <p:sp>
        <p:nvSpPr>
          <p:cNvPr id="9" name="Shape 7"/>
          <p:cNvSpPr/>
          <p:nvPr/>
        </p:nvSpPr>
        <p:spPr>
          <a:xfrm>
            <a:off x="5852160" y="2432304"/>
            <a:ext cx="2487168" cy="0"/>
          </a:xfrm>
          <a:prstGeom prst="line">
            <a:avLst/>
          </a:prstGeom>
          <a:noFill/>
          <a:ln w="9525">
            <a:solidFill>
              <a:srgbClr val="BFBFBF"/>
            </a:solidFill>
            <a:prstDash val="solid"/>
            <a:tailEnd type="none"/>
          </a:ln>
        </p:spPr>
        <p:txBody>
          <a:bodyPr/>
          <a:lstStyle/>
          <a:p>
            <a:endParaRPr lang="en-US"/>
          </a:p>
        </p:txBody>
      </p:sp>
      <p:sp>
        <p:nvSpPr>
          <p:cNvPr id="10" name="Shape 8"/>
          <p:cNvSpPr/>
          <p:nvPr/>
        </p:nvSpPr>
        <p:spPr>
          <a:xfrm>
            <a:off x="7717536" y="1188720"/>
            <a:ext cx="0" cy="2487168"/>
          </a:xfrm>
          <a:prstGeom prst="line">
            <a:avLst/>
          </a:prstGeom>
          <a:noFill/>
          <a:ln w="9525">
            <a:solidFill>
              <a:srgbClr val="BFBFBF"/>
            </a:solidFill>
            <a:prstDash val="solid"/>
            <a:tailEnd type="none"/>
          </a:ln>
        </p:spPr>
        <p:txBody>
          <a:bodyPr/>
          <a:lstStyle/>
          <a:p>
            <a:endParaRPr lang="en-US"/>
          </a:p>
        </p:txBody>
      </p:sp>
      <p:sp>
        <p:nvSpPr>
          <p:cNvPr id="11" name="Shape 9"/>
          <p:cNvSpPr/>
          <p:nvPr/>
        </p:nvSpPr>
        <p:spPr>
          <a:xfrm>
            <a:off x="5852160" y="3054096"/>
            <a:ext cx="2487168" cy="0"/>
          </a:xfrm>
          <a:prstGeom prst="line">
            <a:avLst/>
          </a:prstGeom>
          <a:noFill/>
          <a:ln w="9525">
            <a:solidFill>
              <a:srgbClr val="BFBFBF"/>
            </a:solidFill>
            <a:prstDash val="solid"/>
            <a:tailEnd type="none"/>
          </a:ln>
        </p:spPr>
        <p:txBody>
          <a:bodyPr/>
          <a:lstStyle/>
          <a:p>
            <a:endParaRPr lang="en-US"/>
          </a:p>
        </p:txBody>
      </p:sp>
      <p:sp>
        <p:nvSpPr>
          <p:cNvPr id="12" name="Shape 10"/>
          <p:cNvSpPr/>
          <p:nvPr/>
        </p:nvSpPr>
        <p:spPr>
          <a:xfrm>
            <a:off x="8339328" y="1188720"/>
            <a:ext cx="0" cy="2487168"/>
          </a:xfrm>
          <a:prstGeom prst="line">
            <a:avLst/>
          </a:prstGeom>
          <a:noFill/>
          <a:ln w="9525">
            <a:solidFill>
              <a:srgbClr val="BFBFBF"/>
            </a:solidFill>
            <a:prstDash val="solid"/>
            <a:tailEnd type="none"/>
          </a:ln>
        </p:spPr>
        <p:txBody>
          <a:bodyPr/>
          <a:lstStyle/>
          <a:p>
            <a:endParaRPr lang="en-US"/>
          </a:p>
        </p:txBody>
      </p:sp>
      <p:sp>
        <p:nvSpPr>
          <p:cNvPr id="13" name="Shape 11"/>
          <p:cNvSpPr/>
          <p:nvPr/>
        </p:nvSpPr>
        <p:spPr>
          <a:xfrm>
            <a:off x="5852160" y="3675888"/>
            <a:ext cx="2487168" cy="0"/>
          </a:xfrm>
          <a:prstGeom prst="line">
            <a:avLst/>
          </a:prstGeom>
          <a:noFill/>
          <a:ln w="9525">
            <a:solidFill>
              <a:srgbClr val="BFBFBF"/>
            </a:solidFill>
            <a:prstDash val="solid"/>
            <a:tailEnd type="none"/>
          </a:ln>
        </p:spPr>
        <p:txBody>
          <a:bodyPr/>
          <a:lstStyle/>
          <a:p>
            <a:endParaRPr lang="en-US"/>
          </a:p>
        </p:txBody>
      </p:sp>
      <p:sp>
        <p:nvSpPr>
          <p:cNvPr id="14" name="Shape 12"/>
          <p:cNvSpPr/>
          <p:nvPr/>
        </p:nvSpPr>
        <p:spPr>
          <a:xfrm>
            <a:off x="7132320" y="1847088"/>
            <a:ext cx="548640" cy="548640"/>
          </a:xfrm>
          <a:prstGeom prst="rect">
            <a:avLst/>
          </a:prstGeom>
          <a:ln w="12700">
            <a:solidFill>
              <a:srgbClr val="C00000"/>
            </a:solidFill>
            <a:prstDash val="solid"/>
          </a:ln>
        </p:spPr>
        <p:txBody>
          <a:bodyPr/>
          <a:lstStyle/>
          <a:p>
            <a:endParaRPr lang="en-US"/>
          </a:p>
        </p:txBody>
      </p:sp>
      <p:sp>
        <p:nvSpPr>
          <p:cNvPr id="15" name="Shape 13"/>
          <p:cNvSpPr/>
          <p:nvPr/>
        </p:nvSpPr>
        <p:spPr>
          <a:xfrm>
            <a:off x="6510528" y="1847088"/>
            <a:ext cx="548640" cy="548640"/>
          </a:xfrm>
          <a:prstGeom prst="rect">
            <a:avLst/>
          </a:prstGeom>
          <a:ln w="12700">
            <a:solidFill>
              <a:srgbClr val="C00000"/>
            </a:solidFill>
            <a:prstDash val="solid"/>
          </a:ln>
        </p:spPr>
        <p:txBody>
          <a:bodyPr/>
          <a:lstStyle/>
          <a:p>
            <a:endParaRPr lang="en-US"/>
          </a:p>
        </p:txBody>
      </p:sp>
      <p:sp>
        <p:nvSpPr>
          <p:cNvPr id="16" name="Shape 14"/>
          <p:cNvSpPr/>
          <p:nvPr/>
        </p:nvSpPr>
        <p:spPr>
          <a:xfrm>
            <a:off x="6163056" y="2697480"/>
            <a:ext cx="0" cy="621792"/>
          </a:xfrm>
          <a:prstGeom prst="line">
            <a:avLst/>
          </a:prstGeom>
          <a:noFill/>
          <a:ln w="19050">
            <a:solidFill>
              <a:srgbClr val="292934"/>
            </a:solidFill>
            <a:prstDash val="solid"/>
            <a:tailEnd type="none"/>
          </a:ln>
        </p:spPr>
        <p:txBody>
          <a:bodyPr/>
          <a:lstStyle/>
          <a:p>
            <a:endParaRPr lang="en-US"/>
          </a:p>
        </p:txBody>
      </p:sp>
      <p:sp>
        <p:nvSpPr>
          <p:cNvPr id="17" name="Shape 15"/>
          <p:cNvSpPr/>
          <p:nvPr/>
        </p:nvSpPr>
        <p:spPr>
          <a:xfrm>
            <a:off x="6163056" y="2697480"/>
            <a:ext cx="621792" cy="0"/>
          </a:xfrm>
          <a:prstGeom prst="line">
            <a:avLst/>
          </a:prstGeom>
          <a:noFill/>
          <a:ln w="19050">
            <a:solidFill>
              <a:srgbClr val="292934"/>
            </a:solidFill>
            <a:prstDash val="solid"/>
            <a:tailEnd type="none"/>
          </a:ln>
        </p:spPr>
        <p:txBody>
          <a:bodyPr/>
          <a:lstStyle/>
          <a:p>
            <a:endParaRPr lang="en-US"/>
          </a:p>
        </p:txBody>
      </p:sp>
      <p:sp>
        <p:nvSpPr>
          <p:cNvPr id="18" name="Shape 16"/>
          <p:cNvSpPr/>
          <p:nvPr/>
        </p:nvSpPr>
        <p:spPr>
          <a:xfrm>
            <a:off x="6784848" y="2075688"/>
            <a:ext cx="0" cy="621792"/>
          </a:xfrm>
          <a:prstGeom prst="line">
            <a:avLst/>
          </a:prstGeom>
          <a:noFill/>
          <a:ln w="19050">
            <a:solidFill>
              <a:srgbClr val="292934"/>
            </a:solidFill>
            <a:prstDash val="solid"/>
            <a:tailEnd type="none"/>
          </a:ln>
        </p:spPr>
        <p:txBody>
          <a:bodyPr/>
          <a:lstStyle/>
          <a:p>
            <a:endParaRPr lang="en-US"/>
          </a:p>
        </p:txBody>
      </p:sp>
      <p:sp>
        <p:nvSpPr>
          <p:cNvPr id="19" name="Shape 17"/>
          <p:cNvSpPr/>
          <p:nvPr/>
        </p:nvSpPr>
        <p:spPr>
          <a:xfrm>
            <a:off x="6784848" y="2075688"/>
            <a:ext cx="621792" cy="0"/>
          </a:xfrm>
          <a:prstGeom prst="line">
            <a:avLst/>
          </a:prstGeom>
          <a:noFill/>
          <a:ln w="19050">
            <a:solidFill>
              <a:srgbClr val="292934"/>
            </a:solidFill>
            <a:prstDash val="solid"/>
            <a:tailEnd type="none"/>
          </a:ln>
        </p:spPr>
        <p:txBody>
          <a:bodyPr/>
          <a:lstStyle/>
          <a:p>
            <a:endParaRPr lang="en-US"/>
          </a:p>
        </p:txBody>
      </p:sp>
      <p:sp>
        <p:nvSpPr>
          <p:cNvPr id="20" name="Shape 18"/>
          <p:cNvSpPr/>
          <p:nvPr/>
        </p:nvSpPr>
        <p:spPr>
          <a:xfrm>
            <a:off x="7406640" y="2075688"/>
            <a:ext cx="621792" cy="0"/>
          </a:xfrm>
          <a:prstGeom prst="line">
            <a:avLst/>
          </a:prstGeom>
          <a:noFill/>
          <a:ln w="19050">
            <a:solidFill>
              <a:srgbClr val="292934"/>
            </a:solidFill>
            <a:prstDash val="solid"/>
            <a:tailEnd type="none"/>
          </a:ln>
        </p:spPr>
        <p:txBody>
          <a:bodyPr/>
          <a:lstStyle/>
          <a:p>
            <a:endParaRPr lang="en-US"/>
          </a:p>
        </p:txBody>
      </p:sp>
      <p:sp>
        <p:nvSpPr>
          <p:cNvPr id="21" name="Shape 19"/>
          <p:cNvSpPr/>
          <p:nvPr/>
        </p:nvSpPr>
        <p:spPr>
          <a:xfrm>
            <a:off x="7406640" y="2185416"/>
            <a:ext cx="621792" cy="0"/>
          </a:xfrm>
          <a:prstGeom prst="line">
            <a:avLst/>
          </a:prstGeom>
          <a:noFill/>
          <a:ln w="19050">
            <a:solidFill>
              <a:srgbClr val="C00000"/>
            </a:solidFill>
            <a:prstDash val="dash"/>
            <a:tailEnd type="none"/>
          </a:ln>
        </p:spPr>
        <p:txBody>
          <a:bodyPr/>
          <a:lstStyle/>
          <a:p>
            <a:endParaRPr lang="en-US"/>
          </a:p>
        </p:txBody>
      </p:sp>
      <p:sp>
        <p:nvSpPr>
          <p:cNvPr id="22" name="Shape 20"/>
          <p:cNvSpPr/>
          <p:nvPr/>
        </p:nvSpPr>
        <p:spPr>
          <a:xfrm>
            <a:off x="6784848" y="2185416"/>
            <a:ext cx="621792" cy="0"/>
          </a:xfrm>
          <a:prstGeom prst="line">
            <a:avLst/>
          </a:prstGeom>
          <a:noFill/>
          <a:ln w="19050">
            <a:solidFill>
              <a:srgbClr val="C00000"/>
            </a:solidFill>
            <a:prstDash val="dash"/>
            <a:tailEnd type="triangle"/>
          </a:ln>
        </p:spPr>
        <p:txBody>
          <a:bodyPr/>
          <a:lstStyle/>
          <a:p>
            <a:endParaRPr lang="en-US"/>
          </a:p>
        </p:txBody>
      </p:sp>
      <p:sp>
        <p:nvSpPr>
          <p:cNvPr id="23" name="Shape 21"/>
          <p:cNvSpPr/>
          <p:nvPr/>
        </p:nvSpPr>
        <p:spPr>
          <a:xfrm>
            <a:off x="6099048" y="3300984"/>
            <a:ext cx="128016" cy="128016"/>
          </a:xfrm>
          <a:prstGeom prst="ellipse">
            <a:avLst/>
          </a:prstGeom>
          <a:solidFill>
            <a:srgbClr val="292934"/>
          </a:solidFill>
          <a:ln w="15875">
            <a:solidFill>
              <a:srgbClr val="292934"/>
            </a:solidFill>
            <a:prstDash val="solid"/>
          </a:ln>
        </p:spPr>
        <p:txBody>
          <a:bodyPr/>
          <a:lstStyle/>
          <a:p>
            <a:endParaRPr lang="en-US"/>
          </a:p>
        </p:txBody>
      </p:sp>
      <p:sp>
        <p:nvSpPr>
          <p:cNvPr id="24" name="Text 22"/>
          <p:cNvSpPr txBox="1"/>
          <p:nvPr/>
        </p:nvSpPr>
        <p:spPr>
          <a:xfrm>
            <a:off x="5394960" y="3749040"/>
            <a:ext cx="3383280" cy="274320"/>
          </a:xfrm>
          <a:prstGeom prst="rect">
            <a:avLst/>
          </a:prstGeom>
          <a:noFill/>
          <a:ln/>
        </p:spPr>
        <p:txBody>
          <a:bodyPr wrap="square" lIns="0" tIns="0" rIns="0" bIns="0" rtlCol="0" anchor="ctr"/>
          <a:lstStyle/>
          <a:p>
            <a:pPr marL="0" indent="0" algn="ctr">
              <a:buNone/>
            </a:pPr>
            <a:r>
              <a:rPr lang="en-US" sz="1100">
                <a:solidFill>
                  <a:srgbClr val="595959"/>
                </a:solidFill>
                <a:latin typeface="Tahoma" pitchFamily="34" charset="0"/>
                <a:ea typeface="Tahoma" pitchFamily="34" charset="-122"/>
                <a:cs typeface="Tahoma" pitchFamily="34" charset="-120"/>
              </a:rPr>
              <a:t>Red cells were entered twice: backtracking = 2</a:t>
            </a:r>
            <a:endParaRPr lang="en-US" sz="1100"/>
          </a:p>
        </p:txBody>
      </p:sp>
      <p:sp>
        <p:nvSpPr>
          <p:cNvPr id="25" name="Citation"/>
          <p:cNvSpPr txBox="1"/>
          <p:nvPr/>
        </p:nvSpPr>
        <p:spPr>
          <a:xfrm>
            <a:off x="457200" y="4407408"/>
            <a:ext cx="7863840" cy="566928"/>
          </a:xfrm>
          <a:prstGeom prst="rect">
            <a:avLst/>
          </a:prstGeom>
          <a:noFill/>
          <a:ln/>
        </p:spPr>
        <p:txBody>
          <a:bodyPr wrap="square" lIns="0" tIns="0" rIns="0" bIns="0" rtlCol="0" anchor="b"/>
          <a:lstStyle/>
          <a:p>
            <a:pPr marL="0" indent="0">
              <a:buNone/>
            </a:pPr>
            <a:r>
              <a:rPr lang="en-US" sz="1100" i="1">
                <a:solidFill>
                  <a:srgbClr val="595959"/>
                </a:solidFill>
                <a:latin typeface="Tahoma" pitchFamily="34" charset="0"/>
                <a:ea typeface="Tahoma" pitchFamily="34" charset="-122"/>
                <a:cs typeface="Tahoma" pitchFamily="34" charset="-120"/>
              </a:rPr>
              <a:t>Kennedy, R. S., Lane, N. E., Berbaum, K. S., &amp; Lilienthal, M. G. (1993). Simulator Sickness Questionnaire: An enhanced method for quantifying simulator sickness. The International Journal of Aviation Psychology, 3(3), 203–220.</a:t>
            </a:r>
            <a:endParaRPr lang="en-US" sz="1100"/>
          </a:p>
        </p:txBody>
      </p:sp>
      <p:sp>
        <p:nvSpPr>
          <p:cNvPr id="26" name="Slide Number Placeholder 0"/>
          <p:cNvSpPr>
            <a:spLocks noGrp="1"/>
          </p:cNvSpPr>
          <p:nvPr>
            <p:ph type="sldNum" sz="quarter" idx="4294967295"/>
          </p:nvPr>
        </p:nvSpPr>
        <p:spPr>
          <a:xfrm>
            <a:off x="8412479" y="4800600"/>
            <a:ext cx="446905"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F7F7F"/>
                </a:solidFill>
                <a:latin typeface="Tahoma"/>
                <a:ea typeface="Tahoma"/>
                <a:cs typeface="Tahoma"/>
              </a:defRPr>
            </a:lvl1pPr>
          </a:lstStyle>
          <a:p>
            <a:pPr algn="r"/>
            <a:fld id="{F7021451-1387-4CA6-816F-3879F97B5CBC}" type="slidenum">
              <a:rPr lang="en-US" b="0" smtClean="0"/>
              <a:t>8</a:t>
            </a:fld>
            <a:r>
              <a:rPr lang="en-US" b="0" dirty="0"/>
              <a:t>/12</a:t>
            </a:r>
            <a:endParaRPr lang="en-US" dirty="0"/>
          </a:p>
        </p:txBody>
      </p:sp>
      <p:pic>
        <p:nvPicPr>
          <p:cNvPr id="27" name="dependentvar">
            <a:hlinkClick r:id="" action="ppaction://media"/>
            <a:extLst>
              <a:ext uri="{FF2B5EF4-FFF2-40B4-BE49-F238E27FC236}">
                <a16:creationId xmlns:a16="http://schemas.microsoft.com/office/drawing/2014/main" id="{881FECCA-89AF-A88B-B23C-5825B8FED967}"/>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284529" y="3750163"/>
            <a:ext cx="730250" cy="73025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7"/>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7"/>
                                        </p:tgtEl>
                                      </p:cBhvr>
                                    </p:cmd>
                                  </p:childTnLst>
                                </p:cTn>
                              </p:par>
                            </p:childTnLst>
                          </p:cTn>
                        </p:par>
                      </p:childTnLst>
                    </p:cTn>
                  </p:par>
                </p:childTnLst>
              </p:cTn>
              <p:nextCondLst>
                <p:cond evt="onClick" delay="0">
                  <p:tgtEl>
                    <p:spTgt spid="27"/>
                  </p:tgtEl>
                </p:cond>
              </p:nextCondLst>
            </p:seq>
            <p:audio>
              <p:cMediaNode>
                <p:cTn id="7" fill="hold" display="0">
                  <p:stCondLst>
                    <p:cond delay="indefinite"/>
                  </p:stCondLst>
                  <p:endCondLst>
                    <p:cond evt="onStopAudio" delay="0">
                      <p:tgtEl>
                        <p:sldTgt/>
                      </p:tgtEl>
                    </p:cond>
                  </p:endCondLst>
                </p:cTn>
                <p:tgtEl>
                  <p:spTgt spid="27"/>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500">
                <a:solidFill>
                  <a:srgbClr val="292934"/>
                </a:solidFill>
                <a:latin typeface="Tahoma" pitchFamily="34" charset="0"/>
                <a:ea typeface="Tahoma" pitchFamily="34" charset="-122"/>
                <a:cs typeface="Tahoma" pitchFamily="34" charset="-120"/>
              </a:rPr>
              <a:t>Experimental design and counterbalancing</a:t>
            </a:r>
            <a:endParaRPr lang="en-US" sz="2500"/>
          </a:p>
        </p:txBody>
      </p:sp>
      <p:sp>
        <p:nvSpPr>
          <p:cNvPr id="3" name="Bullets"/>
          <p:cNvSpPr txBox="1"/>
          <p:nvPr/>
        </p:nvSpPr>
        <p:spPr>
          <a:xfrm>
            <a:off x="457200" y="1051560"/>
            <a:ext cx="4572000" cy="3246120"/>
          </a:xfrm>
          <a:prstGeom prst="rect">
            <a:avLst/>
          </a:prstGeom>
          <a:noFill/>
          <a:ln/>
        </p:spPr>
        <p:txBody>
          <a:bodyPr wrap="square" lIns="0" tIns="0" rIns="0" bIns="0" rtlCol="0" anchor="t"/>
          <a:lstStyle/>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Within-subjects</a:t>
            </a:r>
            <a:r>
              <a:rPr lang="en-US" sz="1600">
                <a:solidFill>
                  <a:srgbClr val="292934"/>
                </a:solidFill>
                <a:latin typeface="Tahoma" pitchFamily="34" charset="0"/>
                <a:ea typeface="Tahoma" pitchFamily="34" charset="-122"/>
                <a:cs typeface="Tahoma" pitchFamily="34" charset="-120"/>
              </a:rPr>
              <a:t> - everyone uses all three methods, so we need fewer people and control individual differences</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One world, three lever layouts</a:t>
            </a:r>
            <a:r>
              <a:rPr lang="en-US" sz="1600">
                <a:solidFill>
                  <a:srgbClr val="292934"/>
                </a:solidFill>
                <a:latin typeface="Tahoma" pitchFamily="34" charset="0"/>
                <a:ea typeface="Tahoma" pitchFamily="34" charset="-122"/>
                <a:cs typeface="Tahoma" pitchFamily="34" charset="-120"/>
              </a:rPr>
              <a:t> - same rooms, but the levers move each round, so nobody can memorize them</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3 × 3 Latin square</a:t>
            </a:r>
            <a:r>
              <a:rPr lang="en-US" sz="1600">
                <a:solidFill>
                  <a:srgbClr val="292934"/>
                </a:solidFill>
                <a:latin typeface="Tahoma" pitchFamily="34" charset="0"/>
                <a:ea typeface="Tahoma" pitchFamily="34" charset="-122"/>
                <a:cs typeface="Tahoma" pitchFamily="34" charset="-120"/>
              </a:rPr>
              <a:t> - balances the order of methods and pairs each method with each lever layout</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9 to 12 participants</a:t>
            </a:r>
            <a:r>
              <a:rPr lang="en-US" sz="1600">
                <a:solidFill>
                  <a:srgbClr val="292934"/>
                </a:solidFill>
                <a:latin typeface="Tahoma" pitchFamily="34" charset="0"/>
                <a:ea typeface="Tahoma" pitchFamily="34" charset="-122"/>
                <a:cs typeface="Tahoma" pitchFamily="34" charset="-120"/>
              </a:rPr>
              <a:t> - in multiples of three, with baseline survey and 5-minute breaks</a:t>
            </a:r>
            <a:endParaRPr lang="en-US" sz="1600"/>
          </a:p>
        </p:txBody>
      </p:sp>
      <p:graphicFrame>
        <p:nvGraphicFramePr>
          <p:cNvPr id="10" name="Latin square"/>
          <p:cNvGraphicFramePr>
            <a:graphicFrameLocks noGrp="1"/>
          </p:cNvGraphicFramePr>
          <p:nvPr>
            <p:extLst>
              <p:ext uri="{D42A27DB-BD31-4B8C-83A1-F6EECF244321}">
                <p14:modId xmlns:p14="http://schemas.microsoft.com/office/powerpoint/2010/main" val="1579011935"/>
              </p:ext>
            </p:extLst>
          </p:nvPr>
        </p:nvGraphicFramePr>
        <p:xfrm>
          <a:off x="5166360" y="1325880"/>
          <a:ext cx="3611880" cy="2011680"/>
        </p:xfrm>
        <a:graphic>
          <a:graphicData uri="http://schemas.openxmlformats.org/drawingml/2006/table">
            <a:tbl>
              <a:tblPr/>
              <a:tblGrid>
                <a:gridCol w="8686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502920">
                <a:tc>
                  <a:txBody>
                    <a:bodyPr/>
                    <a:lstStyle/>
                    <a:p>
                      <a:pPr marL="0" indent="0" algn="ctr">
                        <a:buNone/>
                      </a:pPr>
                      <a:endParaRPr lang="en-US" sz="1100">
                        <a:latin typeface="Tahoma" charset="0"/>
                        <a:ea typeface="Tahoma" charset="0"/>
                        <a:cs typeface="Tahoma" charset="0"/>
                      </a:endParaRPr>
                    </a:p>
                  </a:txBody>
                  <a:tcPr marL="27432" marR="2743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00" b="1">
                          <a:solidFill>
                            <a:srgbClr val="292934"/>
                          </a:solidFill>
                          <a:latin typeface="Tahoma" pitchFamily="34" charset="0"/>
                          <a:ea typeface="Tahoma" pitchFamily="34" charset="-122"/>
                          <a:cs typeface="Tahoma" pitchFamily="34" charset="-120"/>
                        </a:rPr>
                        <a:t>Layout A</a:t>
                      </a:r>
                      <a:endParaRPr lang="en-US" sz="1100">
                        <a:latin typeface="Tahoma" charset="0"/>
                        <a:ea typeface="Tahoma" charset="0"/>
                        <a:cs typeface="Tahoma" charset="0"/>
                      </a:endParaRPr>
                    </a:p>
                  </a:txBody>
                  <a:tcPr marL="27432" marR="2743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00" b="1">
                          <a:solidFill>
                            <a:srgbClr val="292934"/>
                          </a:solidFill>
                          <a:latin typeface="Tahoma" pitchFamily="34" charset="0"/>
                          <a:ea typeface="Tahoma" pitchFamily="34" charset="-122"/>
                          <a:cs typeface="Tahoma" pitchFamily="34" charset="-120"/>
                        </a:rPr>
                        <a:t>Layout B</a:t>
                      </a:r>
                      <a:endParaRPr lang="en-US" sz="1100">
                        <a:latin typeface="Tahoma" charset="0"/>
                        <a:ea typeface="Tahoma" charset="0"/>
                        <a:cs typeface="Tahoma" charset="0"/>
                      </a:endParaRPr>
                    </a:p>
                  </a:txBody>
                  <a:tcPr marL="27432" marR="2743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100" b="1">
                          <a:solidFill>
                            <a:srgbClr val="292934"/>
                          </a:solidFill>
                          <a:latin typeface="Tahoma" pitchFamily="34" charset="0"/>
                          <a:ea typeface="Tahoma" pitchFamily="34" charset="-122"/>
                          <a:cs typeface="Tahoma" pitchFamily="34" charset="-120"/>
                        </a:rPr>
                        <a:t>Layout C</a:t>
                      </a:r>
                      <a:endParaRPr lang="en-US" sz="1100">
                        <a:latin typeface="Tahoma" charset="0"/>
                        <a:ea typeface="Tahoma" charset="0"/>
                        <a:cs typeface="Tahoma" charset="0"/>
                      </a:endParaRPr>
                    </a:p>
                  </a:txBody>
                  <a:tcPr marL="27432" marR="2743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02920">
                <a:tc>
                  <a:txBody>
                    <a:bodyPr/>
                    <a:lstStyle/>
                    <a:p>
                      <a:pPr marL="0" indent="0" algn="ctr">
                        <a:buNone/>
                      </a:pPr>
                      <a:r>
                        <a:rPr lang="en-US" sz="1100" b="1">
                          <a:solidFill>
                            <a:srgbClr val="292934"/>
                          </a:solidFill>
                          <a:latin typeface="Tahoma" pitchFamily="34" charset="0"/>
                          <a:ea typeface="Tahoma" pitchFamily="34" charset="-122"/>
                          <a:cs typeface="Tahoma" pitchFamily="34" charset="-120"/>
                        </a:rPr>
                        <a:t>Group 1</a:t>
                      </a:r>
                      <a:endParaRPr lang="en-US" sz="1100">
                        <a:latin typeface="Tahoma" charset="0"/>
                        <a:ea typeface="Tahoma" charset="0"/>
                        <a:cs typeface="Tahoma" charset="0"/>
                      </a:endParaRPr>
                    </a:p>
                  </a:txBody>
                  <a:tcPr marL="27432" marR="2743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92934"/>
                          </a:solidFill>
                          <a:latin typeface="Tahoma" pitchFamily="34" charset="0"/>
                          <a:ea typeface="Tahoma" pitchFamily="34" charset="-122"/>
                          <a:cs typeface="Tahoma" pitchFamily="34" charset="-120"/>
                        </a:rPr>
                        <a:t>Joystick</a:t>
                      </a:r>
                      <a:endParaRPr lang="en-US" sz="1200" dirty="0">
                        <a:latin typeface="Tahoma" charset="0"/>
                        <a:ea typeface="Tahoma" charset="0"/>
                        <a:cs typeface="Tahoma" charset="0"/>
                      </a:endParaRPr>
                    </a:p>
                  </a:txBody>
                  <a:tcPr marL="27432" marR="2743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92934"/>
                          </a:solidFill>
                          <a:latin typeface="Tahoma" pitchFamily="34" charset="0"/>
                          <a:ea typeface="Tahoma" pitchFamily="34" charset="-122"/>
                          <a:cs typeface="Tahoma" pitchFamily="34" charset="-120"/>
                        </a:rPr>
                        <a:t>Teleport</a:t>
                      </a:r>
                      <a:endParaRPr lang="en-US" sz="1200" dirty="0">
                        <a:latin typeface="Tahoma" charset="0"/>
                        <a:ea typeface="Tahoma" charset="0"/>
                        <a:cs typeface="Tahoma" charset="0"/>
                      </a:endParaRPr>
                    </a:p>
                  </a:txBody>
                  <a:tcPr marL="27432" marR="2743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C00000"/>
                          </a:solidFill>
                          <a:latin typeface="Tahoma" pitchFamily="34" charset="0"/>
                          <a:ea typeface="Tahoma" pitchFamily="34" charset="-122"/>
                          <a:cs typeface="Tahoma" pitchFamily="34" charset="-120"/>
                        </a:rPr>
                        <a:t>Trail</a:t>
                      </a:r>
                      <a:endParaRPr lang="en-US" sz="1200" dirty="0">
                        <a:latin typeface="Tahoma" charset="0"/>
                        <a:ea typeface="Tahoma" charset="0"/>
                        <a:cs typeface="Tahoma" charset="0"/>
                      </a:endParaRPr>
                    </a:p>
                  </a:txBody>
                  <a:tcPr marL="27432" marR="2743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ctr">
                        <a:buNone/>
                      </a:pPr>
                      <a:r>
                        <a:rPr lang="en-US" sz="1100" b="1">
                          <a:solidFill>
                            <a:srgbClr val="292934"/>
                          </a:solidFill>
                          <a:latin typeface="Tahoma" pitchFamily="34" charset="0"/>
                          <a:ea typeface="Tahoma" pitchFamily="34" charset="-122"/>
                          <a:cs typeface="Tahoma" pitchFamily="34" charset="-120"/>
                        </a:rPr>
                        <a:t>Group 2</a:t>
                      </a:r>
                      <a:endParaRPr lang="en-US" sz="1100">
                        <a:latin typeface="Tahoma" charset="0"/>
                        <a:ea typeface="Tahoma" charset="0"/>
                        <a:cs typeface="Tahoma" charset="0"/>
                      </a:endParaRPr>
                    </a:p>
                  </a:txBody>
                  <a:tcPr marL="27432" marR="2743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92934"/>
                          </a:solidFill>
                          <a:latin typeface="Tahoma" pitchFamily="34" charset="0"/>
                          <a:ea typeface="Tahoma" pitchFamily="34" charset="-122"/>
                          <a:cs typeface="Tahoma" pitchFamily="34" charset="-120"/>
                        </a:rPr>
                        <a:t>Teleport</a:t>
                      </a:r>
                      <a:endParaRPr lang="en-US" sz="1200" dirty="0">
                        <a:latin typeface="Tahoma" charset="0"/>
                        <a:ea typeface="Tahoma" charset="0"/>
                        <a:cs typeface="Tahoma" charset="0"/>
                      </a:endParaRPr>
                    </a:p>
                  </a:txBody>
                  <a:tcPr marL="27432" marR="2743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b="1">
                          <a:solidFill>
                            <a:srgbClr val="C00000"/>
                          </a:solidFill>
                          <a:latin typeface="Tahoma" pitchFamily="34" charset="0"/>
                          <a:ea typeface="Tahoma" pitchFamily="34" charset="-122"/>
                          <a:cs typeface="Tahoma" pitchFamily="34" charset="-120"/>
                        </a:rPr>
                        <a:t>Trail</a:t>
                      </a:r>
                      <a:endParaRPr lang="en-US" sz="1200">
                        <a:latin typeface="Tahoma" charset="0"/>
                        <a:ea typeface="Tahoma" charset="0"/>
                        <a:cs typeface="Tahoma" charset="0"/>
                      </a:endParaRPr>
                    </a:p>
                  </a:txBody>
                  <a:tcPr marL="27432" marR="2743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92934"/>
                          </a:solidFill>
                          <a:latin typeface="Tahoma" pitchFamily="34" charset="0"/>
                          <a:ea typeface="Tahoma" pitchFamily="34" charset="-122"/>
                          <a:cs typeface="Tahoma" pitchFamily="34" charset="-120"/>
                        </a:rPr>
                        <a:t>Joystick</a:t>
                      </a:r>
                      <a:endParaRPr lang="en-US" sz="1200" dirty="0">
                        <a:latin typeface="Tahoma" charset="0"/>
                        <a:ea typeface="Tahoma" charset="0"/>
                        <a:cs typeface="Tahoma" charset="0"/>
                      </a:endParaRPr>
                    </a:p>
                  </a:txBody>
                  <a:tcPr marL="27432" marR="2743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lgn="ctr">
                        <a:buNone/>
                      </a:pPr>
                      <a:r>
                        <a:rPr lang="en-US" sz="1100" b="1">
                          <a:solidFill>
                            <a:srgbClr val="292934"/>
                          </a:solidFill>
                          <a:latin typeface="Tahoma" pitchFamily="34" charset="0"/>
                          <a:ea typeface="Tahoma" pitchFamily="34" charset="-122"/>
                          <a:cs typeface="Tahoma" pitchFamily="34" charset="-120"/>
                        </a:rPr>
                        <a:t>Group 3</a:t>
                      </a:r>
                      <a:endParaRPr lang="en-US" sz="1100">
                        <a:latin typeface="Tahoma" charset="0"/>
                        <a:ea typeface="Tahoma" charset="0"/>
                        <a:cs typeface="Tahoma" charset="0"/>
                      </a:endParaRPr>
                    </a:p>
                  </a:txBody>
                  <a:tcPr marL="27432" marR="2743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C00000"/>
                          </a:solidFill>
                          <a:latin typeface="Tahoma" pitchFamily="34" charset="0"/>
                          <a:ea typeface="Tahoma" pitchFamily="34" charset="-122"/>
                          <a:cs typeface="Tahoma" pitchFamily="34" charset="-120"/>
                        </a:rPr>
                        <a:t>Trail</a:t>
                      </a:r>
                      <a:endParaRPr lang="en-US" sz="1200" dirty="0">
                        <a:latin typeface="Tahoma" charset="0"/>
                        <a:ea typeface="Tahoma" charset="0"/>
                        <a:cs typeface="Tahoma" charset="0"/>
                      </a:endParaRPr>
                    </a:p>
                  </a:txBody>
                  <a:tcPr marL="27432" marR="2743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a:solidFill>
                            <a:srgbClr val="292934"/>
                          </a:solidFill>
                          <a:latin typeface="Tahoma" pitchFamily="34" charset="0"/>
                          <a:ea typeface="Tahoma" pitchFamily="34" charset="-122"/>
                          <a:cs typeface="Tahoma" pitchFamily="34" charset="-120"/>
                        </a:rPr>
                        <a:t>Joystick</a:t>
                      </a:r>
                      <a:endParaRPr lang="en-US" sz="1200">
                        <a:latin typeface="Tahoma" charset="0"/>
                        <a:ea typeface="Tahoma" charset="0"/>
                        <a:cs typeface="Tahoma" charset="0"/>
                      </a:endParaRPr>
                    </a:p>
                  </a:txBody>
                  <a:tcPr marL="27432" marR="2743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92934"/>
                          </a:solidFill>
                          <a:latin typeface="Tahoma" pitchFamily="34" charset="0"/>
                          <a:ea typeface="Tahoma" pitchFamily="34" charset="-122"/>
                          <a:cs typeface="Tahoma" pitchFamily="34" charset="-120"/>
                        </a:rPr>
                        <a:t>Teleport</a:t>
                      </a:r>
                      <a:endParaRPr lang="en-US" sz="1200" dirty="0">
                        <a:latin typeface="Tahoma" charset="0"/>
                        <a:ea typeface="Tahoma" charset="0"/>
                        <a:cs typeface="Tahoma" charset="0"/>
                      </a:endParaRPr>
                    </a:p>
                  </a:txBody>
                  <a:tcPr marL="27432" marR="2743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txBox="1"/>
          <p:nvPr/>
        </p:nvSpPr>
        <p:spPr>
          <a:xfrm>
            <a:off x="5257800" y="1033272"/>
            <a:ext cx="3520440" cy="256032"/>
          </a:xfrm>
          <a:prstGeom prst="rect">
            <a:avLst/>
          </a:prstGeom>
          <a:noFill/>
          <a:ln/>
        </p:spPr>
        <p:txBody>
          <a:bodyPr wrap="square" lIns="0" tIns="0" rIns="0" bIns="0" rtlCol="0" anchor="ctr"/>
          <a:lstStyle/>
          <a:p>
            <a:pPr marL="0" indent="0" algn="ctr">
              <a:buNone/>
            </a:pPr>
            <a:r>
              <a:rPr lang="en-US" sz="1100">
                <a:solidFill>
                  <a:srgbClr val="595959"/>
                </a:solidFill>
                <a:latin typeface="Tahoma" pitchFamily="34" charset="0"/>
                <a:ea typeface="Tahoma" pitchFamily="34" charset="-122"/>
                <a:cs typeface="Tahoma" pitchFamily="34" charset="-120"/>
              </a:rPr>
              <a:t>Order of use: first, second, third</a:t>
            </a:r>
            <a:endParaRPr lang="en-US" sz="1100"/>
          </a:p>
        </p:txBody>
      </p:sp>
      <p:sp>
        <p:nvSpPr>
          <p:cNvPr id="6" name="Text 3"/>
          <p:cNvSpPr txBox="1"/>
          <p:nvPr/>
        </p:nvSpPr>
        <p:spPr>
          <a:xfrm>
            <a:off x="5257800" y="3429000"/>
            <a:ext cx="3520440" cy="457200"/>
          </a:xfrm>
          <a:prstGeom prst="rect">
            <a:avLst/>
          </a:prstGeom>
          <a:noFill/>
          <a:ln/>
        </p:spPr>
        <p:txBody>
          <a:bodyPr wrap="square" lIns="0" tIns="0" rIns="0" bIns="0" rtlCol="0" anchor="t"/>
          <a:lstStyle/>
          <a:p>
            <a:pPr marL="0" indent="0" algn="ctr">
              <a:buNone/>
            </a:pPr>
            <a:r>
              <a:rPr lang="en-US" sz="1100">
                <a:solidFill>
                  <a:srgbClr val="595959"/>
                </a:solidFill>
                <a:latin typeface="Tahoma" pitchFamily="34" charset="0"/>
                <a:ea typeface="Tahoma" pitchFamily="34" charset="-122"/>
                <a:cs typeface="Tahoma" pitchFamily="34" charset="-120"/>
              </a:rPr>
              <a:t>Trail = trail-assisted teleport. Each method appears once in every position and once with every lever layout.</a:t>
            </a:r>
            <a:endParaRPr lang="en-US" sz="1100"/>
          </a:p>
        </p:txBody>
      </p:sp>
      <p:sp>
        <p:nvSpPr>
          <p:cNvPr id="25" name="Slide Number Placeholder 0"/>
          <p:cNvSpPr>
            <a:spLocks noGrp="1"/>
          </p:cNvSpPr>
          <p:nvPr>
            <p:ph type="sldNum" sz="quarter" idx="4294967295"/>
          </p:nvPr>
        </p:nvSpPr>
        <p:spPr>
          <a:xfrm>
            <a:off x="8412480" y="4800600"/>
            <a:ext cx="434794"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F7F7F"/>
                </a:solidFill>
                <a:latin typeface="Tahoma"/>
                <a:ea typeface="Tahoma"/>
                <a:cs typeface="Tahoma"/>
              </a:defRPr>
            </a:lvl1pPr>
          </a:lstStyle>
          <a:p>
            <a:pPr algn="r"/>
            <a:fld id="{F7021451-1387-4CA6-816F-3879F97B5CBC}" type="slidenum">
              <a:rPr lang="en-US" b="0" smtClean="0"/>
              <a:t>9</a:t>
            </a:fld>
            <a:r>
              <a:rPr lang="en-US" b="0" dirty="0"/>
              <a:t>/12</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500">
                <a:solidFill>
                  <a:srgbClr val="292934"/>
                </a:solidFill>
                <a:latin typeface="Tahoma" pitchFamily="34" charset="0"/>
                <a:ea typeface="Tahoma" pitchFamily="34" charset="-122"/>
                <a:cs typeface="Tahoma" pitchFamily="34" charset="-120"/>
              </a:rPr>
              <a:t>Real-life application: who benefits</a:t>
            </a:r>
            <a:endParaRPr lang="en-US" sz="2500"/>
          </a:p>
        </p:txBody>
      </p:sp>
      <p:sp>
        <p:nvSpPr>
          <p:cNvPr id="3" name="Bullets"/>
          <p:cNvSpPr txBox="1"/>
          <p:nvPr/>
        </p:nvSpPr>
        <p:spPr>
          <a:xfrm>
            <a:off x="457200" y="1051560"/>
            <a:ext cx="4572000" cy="3246120"/>
          </a:xfrm>
          <a:prstGeom prst="rect">
            <a:avLst/>
          </a:prstGeom>
          <a:noFill/>
          <a:ln/>
        </p:spPr>
        <p:txBody>
          <a:bodyPr wrap="square" lIns="0" tIns="0" rIns="0" bIns="0" rtlCol="0" anchor="t"/>
          <a:lstStyle/>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VR training and education</a:t>
            </a:r>
            <a:r>
              <a:rPr lang="en-US" sz="1600">
                <a:solidFill>
                  <a:srgbClr val="292934"/>
                </a:solidFill>
                <a:latin typeface="Tahoma" pitchFamily="34" charset="0"/>
                <a:ea typeface="Tahoma" pitchFamily="34" charset="-122"/>
                <a:cs typeface="Tahoma" pitchFamily="34" charset="-120"/>
              </a:rPr>
              <a:t> - safety drills, medical practice, and virtual labs need people to move without getting sick or lost</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Games and virtual tours</a:t>
            </a:r>
            <a:r>
              <a:rPr lang="en-US" sz="1600">
                <a:solidFill>
                  <a:srgbClr val="292934"/>
                </a:solidFill>
                <a:latin typeface="Tahoma" pitchFamily="34" charset="0"/>
                <a:ea typeface="Tahoma" pitchFamily="34" charset="-122"/>
                <a:cs typeface="Tahoma" pitchFamily="34" charset="-120"/>
              </a:rPr>
              <a:t> - museums, campuses, and real-estate walkthroughs cover large spaces</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Designers and developers</a:t>
            </a:r>
            <a:r>
              <a:rPr lang="en-US" sz="1600">
                <a:solidFill>
                  <a:srgbClr val="292934"/>
                </a:solidFill>
                <a:latin typeface="Tahoma" pitchFamily="34" charset="0"/>
                <a:ea typeface="Tahoma" pitchFamily="34" charset="-122"/>
                <a:cs typeface="Tahoma" pitchFamily="34" charset="-120"/>
              </a:rPr>
              <a:t> - evidence for a default movement method; a trail is cheap to add</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New and sickness-prone users</a:t>
            </a:r>
            <a:r>
              <a:rPr lang="en-US" sz="1600">
                <a:solidFill>
                  <a:srgbClr val="292934"/>
                </a:solidFill>
                <a:latin typeface="Tahoma" pitchFamily="34" charset="0"/>
                <a:ea typeface="Tahoma" pitchFamily="34" charset="-122"/>
                <a:cs typeface="Tahoma" pitchFamily="34" charset="-120"/>
              </a:rPr>
              <a:t> - they could use the comfortable method without losing time</a:t>
            </a:r>
            <a:endParaRPr lang="en-US" sz="1600"/>
          </a:p>
        </p:txBody>
      </p:sp>
      <p:sp>
        <p:nvSpPr>
          <p:cNvPr id="4" name="Shape 2"/>
          <p:cNvSpPr/>
          <p:nvPr/>
        </p:nvSpPr>
        <p:spPr>
          <a:xfrm>
            <a:off x="5806440" y="1508760"/>
            <a:ext cx="1234440" cy="1005840"/>
          </a:xfrm>
          <a:prstGeom prst="line">
            <a:avLst/>
          </a:prstGeom>
          <a:noFill/>
          <a:ln w="15875">
            <a:solidFill>
              <a:srgbClr val="BFBFBF"/>
            </a:solidFill>
            <a:prstDash val="solid"/>
            <a:tailEnd type="none"/>
          </a:ln>
        </p:spPr>
        <p:txBody>
          <a:bodyPr/>
          <a:lstStyle/>
          <a:p>
            <a:endParaRPr lang="en-US"/>
          </a:p>
        </p:txBody>
      </p:sp>
      <p:sp>
        <p:nvSpPr>
          <p:cNvPr id="5" name="Shape 3"/>
          <p:cNvSpPr/>
          <p:nvPr/>
        </p:nvSpPr>
        <p:spPr>
          <a:xfrm flipV="1">
            <a:off x="7040880" y="1508760"/>
            <a:ext cx="1234440" cy="1005840"/>
          </a:xfrm>
          <a:prstGeom prst="line">
            <a:avLst/>
          </a:prstGeom>
          <a:noFill/>
          <a:ln w="15875">
            <a:solidFill>
              <a:srgbClr val="BFBFBF"/>
            </a:solidFill>
            <a:prstDash val="solid"/>
            <a:tailEnd type="none"/>
          </a:ln>
        </p:spPr>
        <p:txBody>
          <a:bodyPr/>
          <a:lstStyle/>
          <a:p>
            <a:endParaRPr lang="en-US"/>
          </a:p>
        </p:txBody>
      </p:sp>
      <p:sp>
        <p:nvSpPr>
          <p:cNvPr id="6" name="Shape 4"/>
          <p:cNvSpPr/>
          <p:nvPr/>
        </p:nvSpPr>
        <p:spPr>
          <a:xfrm flipV="1">
            <a:off x="5806440" y="2514600"/>
            <a:ext cx="1234440" cy="1005840"/>
          </a:xfrm>
          <a:prstGeom prst="line">
            <a:avLst/>
          </a:prstGeom>
          <a:noFill/>
          <a:ln w="15875">
            <a:solidFill>
              <a:srgbClr val="BFBFBF"/>
            </a:solidFill>
            <a:prstDash val="solid"/>
            <a:tailEnd type="none"/>
          </a:ln>
        </p:spPr>
        <p:txBody>
          <a:bodyPr/>
          <a:lstStyle/>
          <a:p>
            <a:endParaRPr lang="en-US"/>
          </a:p>
        </p:txBody>
      </p:sp>
      <p:sp>
        <p:nvSpPr>
          <p:cNvPr id="7" name="Shape 5"/>
          <p:cNvSpPr/>
          <p:nvPr/>
        </p:nvSpPr>
        <p:spPr>
          <a:xfrm>
            <a:off x="7040880" y="2514600"/>
            <a:ext cx="1234440" cy="1005840"/>
          </a:xfrm>
          <a:prstGeom prst="line">
            <a:avLst/>
          </a:prstGeom>
          <a:noFill/>
          <a:ln w="15875">
            <a:solidFill>
              <a:srgbClr val="BFBFBF"/>
            </a:solidFill>
            <a:prstDash val="solid"/>
            <a:tailEnd type="none"/>
          </a:ln>
        </p:spPr>
        <p:txBody>
          <a:bodyPr/>
          <a:lstStyle/>
          <a:p>
            <a:endParaRPr lang="en-US"/>
          </a:p>
        </p:txBody>
      </p:sp>
      <p:sp>
        <p:nvSpPr>
          <p:cNvPr id="8" name="Shape 6"/>
          <p:cNvSpPr/>
          <p:nvPr/>
        </p:nvSpPr>
        <p:spPr>
          <a:xfrm>
            <a:off x="5349240" y="1051560"/>
            <a:ext cx="914400" cy="914400"/>
          </a:xfrm>
          <a:prstGeom prst="ellipse">
            <a:avLst/>
          </a:prstGeom>
          <a:solidFill>
            <a:srgbClr val="FFFFFF"/>
          </a:solidFill>
          <a:ln w="15875">
            <a:solidFill>
              <a:srgbClr val="292934"/>
            </a:solidFill>
            <a:prstDash val="solid"/>
          </a:ln>
        </p:spPr>
        <p:txBody>
          <a:bodyPr/>
          <a:lstStyle/>
          <a:p>
            <a:endParaRPr lang="en-US"/>
          </a:p>
        </p:txBody>
      </p:sp>
      <p:sp>
        <p:nvSpPr>
          <p:cNvPr id="9" name="Text 7"/>
          <p:cNvSpPr txBox="1"/>
          <p:nvPr/>
        </p:nvSpPr>
        <p:spPr>
          <a:xfrm>
            <a:off x="5367528" y="1234440"/>
            <a:ext cx="877824" cy="548640"/>
          </a:xfrm>
          <a:prstGeom prst="rect">
            <a:avLst/>
          </a:prstGeom>
          <a:noFill/>
          <a:ln/>
        </p:spPr>
        <p:txBody>
          <a:bodyPr wrap="square" lIns="0" tIns="0" rIns="0" bIns="0" rtlCol="0" anchor="ctr"/>
          <a:lstStyle/>
          <a:p>
            <a:pPr marL="0" indent="0" algn="ctr">
              <a:buNone/>
            </a:pPr>
            <a:r>
              <a:rPr lang="en-US" sz="1100">
                <a:solidFill>
                  <a:srgbClr val="292934"/>
                </a:solidFill>
                <a:latin typeface="Tahoma" pitchFamily="34" charset="0"/>
                <a:ea typeface="Tahoma" pitchFamily="34" charset="-122"/>
                <a:cs typeface="Tahoma" pitchFamily="34" charset="-120"/>
              </a:rPr>
              <a:t>Training</a:t>
            </a:r>
            <a:endParaRPr lang="en-US" sz="1100"/>
          </a:p>
        </p:txBody>
      </p:sp>
      <p:sp>
        <p:nvSpPr>
          <p:cNvPr id="10" name="Shape 8"/>
          <p:cNvSpPr/>
          <p:nvPr/>
        </p:nvSpPr>
        <p:spPr>
          <a:xfrm>
            <a:off x="7818120" y="1051560"/>
            <a:ext cx="914400" cy="914400"/>
          </a:xfrm>
          <a:prstGeom prst="ellipse">
            <a:avLst/>
          </a:prstGeom>
          <a:solidFill>
            <a:srgbClr val="FFFFFF"/>
          </a:solidFill>
          <a:ln w="15875">
            <a:solidFill>
              <a:srgbClr val="292934"/>
            </a:solidFill>
            <a:prstDash val="solid"/>
          </a:ln>
        </p:spPr>
        <p:txBody>
          <a:bodyPr/>
          <a:lstStyle/>
          <a:p>
            <a:endParaRPr lang="en-US"/>
          </a:p>
        </p:txBody>
      </p:sp>
      <p:sp>
        <p:nvSpPr>
          <p:cNvPr id="11" name="Text 9"/>
          <p:cNvSpPr txBox="1"/>
          <p:nvPr/>
        </p:nvSpPr>
        <p:spPr>
          <a:xfrm>
            <a:off x="7836408" y="1234440"/>
            <a:ext cx="877824" cy="548640"/>
          </a:xfrm>
          <a:prstGeom prst="rect">
            <a:avLst/>
          </a:prstGeom>
          <a:noFill/>
          <a:ln/>
        </p:spPr>
        <p:txBody>
          <a:bodyPr wrap="square" lIns="0" tIns="0" rIns="0" bIns="0" rtlCol="0" anchor="ctr"/>
          <a:lstStyle/>
          <a:p>
            <a:pPr marL="0" indent="0" algn="ctr">
              <a:buNone/>
            </a:pPr>
            <a:r>
              <a:rPr lang="en-US" sz="1100">
                <a:solidFill>
                  <a:srgbClr val="292934"/>
                </a:solidFill>
                <a:latin typeface="Tahoma" pitchFamily="34" charset="0"/>
                <a:ea typeface="Tahoma" pitchFamily="34" charset="-122"/>
                <a:cs typeface="Tahoma" pitchFamily="34" charset="-120"/>
              </a:rPr>
              <a:t>Education</a:t>
            </a:r>
            <a:endParaRPr lang="en-US" sz="1100"/>
          </a:p>
        </p:txBody>
      </p:sp>
      <p:sp>
        <p:nvSpPr>
          <p:cNvPr id="12" name="Shape 10"/>
          <p:cNvSpPr/>
          <p:nvPr/>
        </p:nvSpPr>
        <p:spPr>
          <a:xfrm>
            <a:off x="5349240" y="3063240"/>
            <a:ext cx="914400" cy="914400"/>
          </a:xfrm>
          <a:prstGeom prst="ellipse">
            <a:avLst/>
          </a:prstGeom>
          <a:solidFill>
            <a:srgbClr val="FFFFFF"/>
          </a:solidFill>
          <a:ln w="15875">
            <a:solidFill>
              <a:srgbClr val="292934"/>
            </a:solidFill>
            <a:prstDash val="solid"/>
          </a:ln>
        </p:spPr>
        <p:txBody>
          <a:bodyPr/>
          <a:lstStyle/>
          <a:p>
            <a:endParaRPr lang="en-US"/>
          </a:p>
        </p:txBody>
      </p:sp>
      <p:sp>
        <p:nvSpPr>
          <p:cNvPr id="13" name="Text 11"/>
          <p:cNvSpPr txBox="1"/>
          <p:nvPr/>
        </p:nvSpPr>
        <p:spPr>
          <a:xfrm>
            <a:off x="5367528" y="3246120"/>
            <a:ext cx="877824" cy="548640"/>
          </a:xfrm>
          <a:prstGeom prst="rect">
            <a:avLst/>
          </a:prstGeom>
          <a:noFill/>
          <a:ln/>
        </p:spPr>
        <p:txBody>
          <a:bodyPr wrap="square" lIns="0" tIns="0" rIns="0" bIns="0" rtlCol="0" anchor="ctr"/>
          <a:lstStyle/>
          <a:p>
            <a:pPr marL="0" indent="0" algn="ctr">
              <a:buNone/>
            </a:pPr>
            <a:r>
              <a:rPr lang="en-US" sz="1100">
                <a:solidFill>
                  <a:srgbClr val="292934"/>
                </a:solidFill>
                <a:latin typeface="Tahoma" pitchFamily="34" charset="0"/>
                <a:ea typeface="Tahoma" pitchFamily="34" charset="-122"/>
                <a:cs typeface="Tahoma" pitchFamily="34" charset="-120"/>
              </a:rPr>
              <a:t>Games</a:t>
            </a:r>
            <a:endParaRPr lang="en-US" sz="1100"/>
          </a:p>
        </p:txBody>
      </p:sp>
      <p:sp>
        <p:nvSpPr>
          <p:cNvPr id="14" name="Shape 12"/>
          <p:cNvSpPr/>
          <p:nvPr/>
        </p:nvSpPr>
        <p:spPr>
          <a:xfrm>
            <a:off x="7818120" y="3063240"/>
            <a:ext cx="914400" cy="914400"/>
          </a:xfrm>
          <a:prstGeom prst="ellipse">
            <a:avLst/>
          </a:prstGeom>
          <a:solidFill>
            <a:srgbClr val="FFFFFF"/>
          </a:solidFill>
          <a:ln w="15875">
            <a:solidFill>
              <a:srgbClr val="292934"/>
            </a:solidFill>
            <a:prstDash val="solid"/>
          </a:ln>
        </p:spPr>
        <p:txBody>
          <a:bodyPr/>
          <a:lstStyle/>
          <a:p>
            <a:endParaRPr lang="en-US"/>
          </a:p>
        </p:txBody>
      </p:sp>
      <p:sp>
        <p:nvSpPr>
          <p:cNvPr id="15" name="Text 13"/>
          <p:cNvSpPr txBox="1"/>
          <p:nvPr/>
        </p:nvSpPr>
        <p:spPr>
          <a:xfrm>
            <a:off x="7836408" y="3246120"/>
            <a:ext cx="877824" cy="548640"/>
          </a:xfrm>
          <a:prstGeom prst="rect">
            <a:avLst/>
          </a:prstGeom>
          <a:noFill/>
          <a:ln/>
        </p:spPr>
        <p:txBody>
          <a:bodyPr wrap="square" lIns="0" tIns="0" rIns="0" bIns="0" rtlCol="0" anchor="ctr"/>
          <a:lstStyle/>
          <a:p>
            <a:pPr marL="0" indent="0" algn="ctr">
              <a:buNone/>
            </a:pPr>
            <a:r>
              <a:rPr lang="en-US" sz="1100">
                <a:solidFill>
                  <a:srgbClr val="292934"/>
                </a:solidFill>
                <a:latin typeface="Tahoma" pitchFamily="34" charset="0"/>
                <a:ea typeface="Tahoma" pitchFamily="34" charset="-122"/>
                <a:cs typeface="Tahoma" pitchFamily="34" charset="-120"/>
              </a:rPr>
              <a:t>Virtual</a:t>
            </a:r>
            <a:endParaRPr lang="en-US" sz="1100"/>
          </a:p>
          <a:p>
            <a:pPr marL="0" indent="0" algn="ctr">
              <a:buNone/>
            </a:pPr>
            <a:r>
              <a:rPr lang="en-US" sz="1100">
                <a:solidFill>
                  <a:srgbClr val="292934"/>
                </a:solidFill>
                <a:latin typeface="Tahoma" pitchFamily="34" charset="0"/>
                <a:ea typeface="Tahoma" pitchFamily="34" charset="-122"/>
                <a:cs typeface="Tahoma" pitchFamily="34" charset="-120"/>
              </a:rPr>
              <a:t>tours</a:t>
            </a:r>
            <a:endParaRPr lang="en-US" sz="1100"/>
          </a:p>
        </p:txBody>
      </p:sp>
      <p:sp>
        <p:nvSpPr>
          <p:cNvPr id="16" name="Shape 14"/>
          <p:cNvSpPr/>
          <p:nvPr/>
        </p:nvSpPr>
        <p:spPr>
          <a:xfrm>
            <a:off x="6382512" y="1856232"/>
            <a:ext cx="1316736" cy="1316736"/>
          </a:xfrm>
          <a:prstGeom prst="ellipse">
            <a:avLst/>
          </a:prstGeom>
          <a:solidFill>
            <a:srgbClr val="FFFFFF"/>
          </a:solidFill>
          <a:ln w="22225">
            <a:solidFill>
              <a:srgbClr val="C00000"/>
            </a:solidFill>
            <a:prstDash val="solid"/>
          </a:ln>
        </p:spPr>
        <p:txBody>
          <a:bodyPr/>
          <a:lstStyle/>
          <a:p>
            <a:endParaRPr lang="en-US"/>
          </a:p>
        </p:txBody>
      </p:sp>
      <p:sp>
        <p:nvSpPr>
          <p:cNvPr id="17" name="Text 15"/>
          <p:cNvSpPr txBox="1"/>
          <p:nvPr/>
        </p:nvSpPr>
        <p:spPr>
          <a:xfrm>
            <a:off x="6437376" y="2103120"/>
            <a:ext cx="1207008" cy="822960"/>
          </a:xfrm>
          <a:prstGeom prst="rect">
            <a:avLst/>
          </a:prstGeom>
          <a:noFill/>
          <a:ln/>
        </p:spPr>
        <p:txBody>
          <a:bodyPr wrap="square" lIns="0" tIns="0" rIns="0" bIns="0" rtlCol="0" anchor="ctr"/>
          <a:lstStyle/>
          <a:p>
            <a:pPr marL="0" indent="0" algn="ctr">
              <a:buNone/>
            </a:pPr>
            <a:r>
              <a:rPr lang="en-US" sz="1100" b="1">
                <a:solidFill>
                  <a:srgbClr val="C00000"/>
                </a:solidFill>
                <a:latin typeface="Tahoma" pitchFamily="34" charset="0"/>
                <a:ea typeface="Tahoma" pitchFamily="34" charset="-122"/>
                <a:cs typeface="Tahoma" pitchFamily="34" charset="-120"/>
              </a:rPr>
              <a:t>Comfortable, oriented movement</a:t>
            </a:r>
            <a:endParaRPr lang="en-US" sz="1100"/>
          </a:p>
        </p:txBody>
      </p:sp>
      <p:sp>
        <p:nvSpPr>
          <p:cNvPr id="19" name="Slide Number Placeholder 0">
            <a:extLst>
              <a:ext uri="{FF2B5EF4-FFF2-40B4-BE49-F238E27FC236}">
                <a16:creationId xmlns:a16="http://schemas.microsoft.com/office/drawing/2014/main" id="{96E6D894-99CE-DE88-6897-2FFBFF2A3112}"/>
              </a:ext>
            </a:extLst>
          </p:cNvPr>
          <p:cNvSpPr>
            <a:spLocks noGrp="1"/>
          </p:cNvSpPr>
          <p:nvPr>
            <p:ph type="sldNum" sz="quarter" idx="4294967295"/>
          </p:nvPr>
        </p:nvSpPr>
        <p:spPr>
          <a:xfrm>
            <a:off x="8326489" y="4846320"/>
            <a:ext cx="537741"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F7F7F"/>
                </a:solidFill>
                <a:latin typeface="Tahoma"/>
                <a:ea typeface="Tahoma"/>
                <a:cs typeface="Tahoma"/>
              </a:defRPr>
            </a:lvl1pPr>
          </a:lstStyle>
          <a:p>
            <a:pPr algn="r"/>
            <a:fld id="{F7021451-1387-4CA6-816F-3879F97B5CBC}" type="slidenum">
              <a:rPr lang="en-US" b="0" smtClean="0"/>
              <a:t>10</a:t>
            </a:fld>
            <a:r>
              <a:rPr lang="en-US" b="0" dirty="0"/>
              <a:t>/12</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500">
                <a:solidFill>
                  <a:srgbClr val="292934"/>
                </a:solidFill>
                <a:latin typeface="Tahoma" pitchFamily="34" charset="0"/>
                <a:ea typeface="Tahoma" pitchFamily="34" charset="-122"/>
                <a:cs typeface="Tahoma" pitchFamily="34" charset="-120"/>
              </a:rPr>
              <a:t>Relation to HCI</a:t>
            </a:r>
            <a:endParaRPr lang="en-US" sz="2500"/>
          </a:p>
        </p:txBody>
      </p:sp>
      <p:sp>
        <p:nvSpPr>
          <p:cNvPr id="3" name="Bullets"/>
          <p:cNvSpPr txBox="1"/>
          <p:nvPr/>
        </p:nvSpPr>
        <p:spPr>
          <a:xfrm>
            <a:off x="457200" y="1051560"/>
            <a:ext cx="4480560" cy="3246120"/>
          </a:xfrm>
          <a:prstGeom prst="rect">
            <a:avLst/>
          </a:prstGeom>
          <a:noFill/>
          <a:ln/>
        </p:spPr>
        <p:txBody>
          <a:bodyPr wrap="square" lIns="0" tIns="0" rIns="0" bIns="0" rtlCol="0" anchor="t"/>
          <a:lstStyle/>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Interaction technique</a:t>
            </a:r>
            <a:r>
              <a:rPr lang="en-US" sz="1600">
                <a:solidFill>
                  <a:srgbClr val="292934"/>
                </a:solidFill>
                <a:latin typeface="Tahoma" pitchFamily="34" charset="0"/>
                <a:ea typeface="Tahoma" pitchFamily="34" charset="-122"/>
                <a:cs typeface="Tahoma" pitchFamily="34" charset="-120"/>
              </a:rPr>
              <a:t> - movement is how the user controls a VR system, a core HCI design problem</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Usability trade-off</a:t>
            </a:r>
            <a:r>
              <a:rPr lang="en-US" sz="1600">
                <a:solidFill>
                  <a:srgbClr val="292934"/>
                </a:solidFill>
                <a:latin typeface="Tahoma" pitchFamily="34" charset="0"/>
                <a:ea typeface="Tahoma" pitchFamily="34" charset="-122"/>
                <a:cs typeface="Tahoma" pitchFamily="34" charset="-120"/>
              </a:rPr>
              <a:t> - efficiency (time, backtracking) against satisfaction and comfort (motion sickness)</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Wayfinding aid</a:t>
            </a:r>
            <a:r>
              <a:rPr lang="en-US" sz="1600">
                <a:solidFill>
                  <a:srgbClr val="292934"/>
                </a:solidFill>
                <a:latin typeface="Tahoma" pitchFamily="34" charset="0"/>
                <a:ea typeface="Tahoma" pitchFamily="34" charset="-122"/>
                <a:cs typeface="Tahoma" pitchFamily="34" charset="-120"/>
              </a:rPr>
              <a:t> - the trail adds information to the interface to reduce disorientation</a:t>
            </a:r>
            <a:endParaRPr lang="en-US" sz="1600"/>
          </a:p>
          <a:p>
            <a:pPr marL="177800" indent="-177800">
              <a:spcAft>
                <a:spcPts val="900"/>
              </a:spcAft>
              <a:buSzPct val="100000"/>
              <a:buChar char="•"/>
            </a:pPr>
            <a:r>
              <a:rPr lang="en-US" sz="1600" b="1">
                <a:solidFill>
                  <a:srgbClr val="C00000"/>
                </a:solidFill>
                <a:latin typeface="Tahoma" pitchFamily="34" charset="0"/>
                <a:ea typeface="Tahoma" pitchFamily="34" charset="-122"/>
                <a:cs typeface="Tahoma" pitchFamily="34" charset="-120"/>
              </a:rPr>
              <a:t>Empirical evaluation</a:t>
            </a:r>
            <a:r>
              <a:rPr lang="en-US" sz="1600">
                <a:solidFill>
                  <a:srgbClr val="292934"/>
                </a:solidFill>
                <a:latin typeface="Tahoma" pitchFamily="34" charset="0"/>
                <a:ea typeface="Tahoma" pitchFamily="34" charset="-122"/>
                <a:cs typeface="Tahoma" pitchFamily="34" charset="-120"/>
              </a:rPr>
              <a:t> - a controlled experiment with logged behavior and a standard questionnaire</a:t>
            </a:r>
            <a:endParaRPr lang="en-US" sz="1600"/>
          </a:p>
        </p:txBody>
      </p:sp>
      <p:sp>
        <p:nvSpPr>
          <p:cNvPr id="4" name="Shape 2"/>
          <p:cNvSpPr/>
          <p:nvPr/>
        </p:nvSpPr>
        <p:spPr>
          <a:xfrm>
            <a:off x="7040880" y="1828800"/>
            <a:ext cx="0" cy="1600200"/>
          </a:xfrm>
          <a:prstGeom prst="line">
            <a:avLst/>
          </a:prstGeom>
          <a:noFill/>
          <a:ln w="22225">
            <a:solidFill>
              <a:srgbClr val="292934"/>
            </a:solidFill>
            <a:prstDash val="solid"/>
            <a:tailEnd type="none"/>
          </a:ln>
        </p:spPr>
        <p:txBody>
          <a:bodyPr/>
          <a:lstStyle/>
          <a:p>
            <a:endParaRPr lang="en-US"/>
          </a:p>
        </p:txBody>
      </p:sp>
      <p:sp>
        <p:nvSpPr>
          <p:cNvPr id="5" name="Shape 3"/>
          <p:cNvSpPr/>
          <p:nvPr/>
        </p:nvSpPr>
        <p:spPr>
          <a:xfrm>
            <a:off x="6583680" y="3429000"/>
            <a:ext cx="914400" cy="0"/>
          </a:xfrm>
          <a:prstGeom prst="line">
            <a:avLst/>
          </a:prstGeom>
          <a:noFill/>
          <a:ln w="22225">
            <a:solidFill>
              <a:srgbClr val="292934"/>
            </a:solidFill>
            <a:prstDash val="solid"/>
            <a:tailEnd type="none"/>
          </a:ln>
        </p:spPr>
        <p:txBody>
          <a:bodyPr/>
          <a:lstStyle/>
          <a:p>
            <a:endParaRPr lang="en-US"/>
          </a:p>
        </p:txBody>
      </p:sp>
      <p:sp>
        <p:nvSpPr>
          <p:cNvPr id="6" name="Shape 4"/>
          <p:cNvSpPr/>
          <p:nvPr/>
        </p:nvSpPr>
        <p:spPr>
          <a:xfrm>
            <a:off x="5715000" y="1828800"/>
            <a:ext cx="2651760" cy="0"/>
          </a:xfrm>
          <a:prstGeom prst="line">
            <a:avLst/>
          </a:prstGeom>
          <a:noFill/>
          <a:ln w="22225">
            <a:solidFill>
              <a:srgbClr val="292934"/>
            </a:solidFill>
            <a:prstDash val="solid"/>
            <a:tailEnd type="none"/>
          </a:ln>
        </p:spPr>
        <p:txBody>
          <a:bodyPr/>
          <a:lstStyle/>
          <a:p>
            <a:endParaRPr lang="en-US"/>
          </a:p>
        </p:txBody>
      </p:sp>
      <p:sp>
        <p:nvSpPr>
          <p:cNvPr id="7" name="Shape 5"/>
          <p:cNvSpPr/>
          <p:nvPr/>
        </p:nvSpPr>
        <p:spPr>
          <a:xfrm>
            <a:off x="6976872" y="1764792"/>
            <a:ext cx="128016" cy="128016"/>
          </a:xfrm>
          <a:prstGeom prst="ellipse">
            <a:avLst/>
          </a:prstGeom>
          <a:solidFill>
            <a:srgbClr val="C00000"/>
          </a:solidFill>
          <a:ln w="15875">
            <a:solidFill>
              <a:srgbClr val="C00000"/>
            </a:solidFill>
            <a:prstDash val="solid"/>
          </a:ln>
        </p:spPr>
        <p:txBody>
          <a:bodyPr/>
          <a:lstStyle/>
          <a:p>
            <a:endParaRPr lang="en-US"/>
          </a:p>
        </p:txBody>
      </p:sp>
      <p:sp>
        <p:nvSpPr>
          <p:cNvPr id="8" name="Shape 6"/>
          <p:cNvSpPr/>
          <p:nvPr/>
        </p:nvSpPr>
        <p:spPr>
          <a:xfrm flipV="1">
            <a:off x="5367528" y="1828800"/>
            <a:ext cx="347472" cy="685800"/>
          </a:xfrm>
          <a:prstGeom prst="line">
            <a:avLst/>
          </a:prstGeom>
          <a:noFill/>
          <a:ln w="15875">
            <a:solidFill>
              <a:srgbClr val="595959"/>
            </a:solidFill>
            <a:prstDash val="solid"/>
            <a:tailEnd type="none"/>
          </a:ln>
        </p:spPr>
        <p:txBody>
          <a:bodyPr/>
          <a:lstStyle/>
          <a:p>
            <a:endParaRPr lang="en-US"/>
          </a:p>
        </p:txBody>
      </p:sp>
      <p:sp>
        <p:nvSpPr>
          <p:cNvPr id="9" name="Shape 7"/>
          <p:cNvSpPr/>
          <p:nvPr/>
        </p:nvSpPr>
        <p:spPr>
          <a:xfrm>
            <a:off x="5715000" y="1828800"/>
            <a:ext cx="347472" cy="685800"/>
          </a:xfrm>
          <a:prstGeom prst="line">
            <a:avLst/>
          </a:prstGeom>
          <a:noFill/>
          <a:ln w="15875">
            <a:solidFill>
              <a:srgbClr val="595959"/>
            </a:solidFill>
            <a:prstDash val="solid"/>
            <a:tailEnd type="none"/>
          </a:ln>
        </p:spPr>
        <p:txBody>
          <a:bodyPr/>
          <a:lstStyle/>
          <a:p>
            <a:endParaRPr lang="en-US"/>
          </a:p>
        </p:txBody>
      </p:sp>
      <p:sp>
        <p:nvSpPr>
          <p:cNvPr id="10" name="Shape 8"/>
          <p:cNvSpPr/>
          <p:nvPr/>
        </p:nvSpPr>
        <p:spPr>
          <a:xfrm>
            <a:off x="5276088" y="2514600"/>
            <a:ext cx="877824" cy="0"/>
          </a:xfrm>
          <a:prstGeom prst="line">
            <a:avLst/>
          </a:prstGeom>
          <a:noFill/>
          <a:ln w="22225">
            <a:solidFill>
              <a:srgbClr val="292934"/>
            </a:solidFill>
            <a:prstDash val="solid"/>
            <a:tailEnd type="none"/>
          </a:ln>
        </p:spPr>
        <p:txBody>
          <a:bodyPr/>
          <a:lstStyle/>
          <a:p>
            <a:endParaRPr lang="en-US"/>
          </a:p>
        </p:txBody>
      </p:sp>
      <p:sp>
        <p:nvSpPr>
          <p:cNvPr id="11" name="Shape 9"/>
          <p:cNvSpPr/>
          <p:nvPr/>
        </p:nvSpPr>
        <p:spPr>
          <a:xfrm flipV="1">
            <a:off x="8019288" y="1828800"/>
            <a:ext cx="347472" cy="685800"/>
          </a:xfrm>
          <a:prstGeom prst="line">
            <a:avLst/>
          </a:prstGeom>
          <a:noFill/>
          <a:ln w="15875">
            <a:solidFill>
              <a:srgbClr val="595959"/>
            </a:solidFill>
            <a:prstDash val="solid"/>
            <a:tailEnd type="none"/>
          </a:ln>
        </p:spPr>
        <p:txBody>
          <a:bodyPr/>
          <a:lstStyle/>
          <a:p>
            <a:endParaRPr lang="en-US"/>
          </a:p>
        </p:txBody>
      </p:sp>
      <p:sp>
        <p:nvSpPr>
          <p:cNvPr id="12" name="Shape 10"/>
          <p:cNvSpPr/>
          <p:nvPr/>
        </p:nvSpPr>
        <p:spPr>
          <a:xfrm>
            <a:off x="8366760" y="1828800"/>
            <a:ext cx="347472" cy="685800"/>
          </a:xfrm>
          <a:prstGeom prst="line">
            <a:avLst/>
          </a:prstGeom>
          <a:noFill/>
          <a:ln w="15875">
            <a:solidFill>
              <a:srgbClr val="595959"/>
            </a:solidFill>
            <a:prstDash val="solid"/>
            <a:tailEnd type="none"/>
          </a:ln>
        </p:spPr>
        <p:txBody>
          <a:bodyPr/>
          <a:lstStyle/>
          <a:p>
            <a:endParaRPr lang="en-US"/>
          </a:p>
        </p:txBody>
      </p:sp>
      <p:sp>
        <p:nvSpPr>
          <p:cNvPr id="13" name="Shape 11"/>
          <p:cNvSpPr/>
          <p:nvPr/>
        </p:nvSpPr>
        <p:spPr>
          <a:xfrm>
            <a:off x="7927848" y="2514600"/>
            <a:ext cx="877824" cy="0"/>
          </a:xfrm>
          <a:prstGeom prst="line">
            <a:avLst/>
          </a:prstGeom>
          <a:noFill/>
          <a:ln w="22225">
            <a:solidFill>
              <a:srgbClr val="292934"/>
            </a:solidFill>
            <a:prstDash val="solid"/>
            <a:tailEnd type="none"/>
          </a:ln>
        </p:spPr>
        <p:txBody>
          <a:bodyPr/>
          <a:lstStyle/>
          <a:p>
            <a:endParaRPr lang="en-US"/>
          </a:p>
        </p:txBody>
      </p:sp>
      <p:sp>
        <p:nvSpPr>
          <p:cNvPr id="14" name="Text 12"/>
          <p:cNvSpPr txBox="1"/>
          <p:nvPr/>
        </p:nvSpPr>
        <p:spPr>
          <a:xfrm>
            <a:off x="5212080" y="2578608"/>
            <a:ext cx="1005840" cy="256032"/>
          </a:xfrm>
          <a:prstGeom prst="rect">
            <a:avLst/>
          </a:prstGeom>
          <a:noFill/>
          <a:ln/>
        </p:spPr>
        <p:txBody>
          <a:bodyPr wrap="square" lIns="0" tIns="0" rIns="0" bIns="0" rtlCol="0" anchor="ctr"/>
          <a:lstStyle/>
          <a:p>
            <a:pPr marL="0" indent="0" algn="ctr">
              <a:buNone/>
            </a:pPr>
            <a:r>
              <a:rPr lang="en-US" sz="1200" b="1">
                <a:solidFill>
                  <a:srgbClr val="292934"/>
                </a:solidFill>
                <a:latin typeface="Tahoma" pitchFamily="34" charset="0"/>
                <a:ea typeface="Tahoma" pitchFamily="34" charset="-122"/>
                <a:cs typeface="Tahoma" pitchFamily="34" charset="-120"/>
              </a:rPr>
              <a:t>Efficiency</a:t>
            </a:r>
            <a:endParaRPr lang="en-US" sz="1200"/>
          </a:p>
        </p:txBody>
      </p:sp>
      <p:sp>
        <p:nvSpPr>
          <p:cNvPr id="15" name="Text 13"/>
          <p:cNvSpPr txBox="1"/>
          <p:nvPr/>
        </p:nvSpPr>
        <p:spPr>
          <a:xfrm>
            <a:off x="5029200" y="2816352"/>
            <a:ext cx="1371600" cy="228600"/>
          </a:xfrm>
          <a:prstGeom prst="rect">
            <a:avLst/>
          </a:prstGeom>
          <a:noFill/>
          <a:ln/>
        </p:spPr>
        <p:txBody>
          <a:bodyPr wrap="square" lIns="0" tIns="0" rIns="0" bIns="0" rtlCol="0" anchor="ctr"/>
          <a:lstStyle/>
          <a:p>
            <a:pPr marL="0" indent="0" algn="ctr">
              <a:buNone/>
            </a:pPr>
            <a:r>
              <a:rPr lang="en-US" sz="1100">
                <a:solidFill>
                  <a:srgbClr val="595959"/>
                </a:solidFill>
                <a:latin typeface="Tahoma" pitchFamily="34" charset="0"/>
                <a:ea typeface="Tahoma" pitchFamily="34" charset="-122"/>
                <a:cs typeface="Tahoma" pitchFamily="34" charset="-120"/>
              </a:rPr>
              <a:t>time, backtracking</a:t>
            </a:r>
            <a:endParaRPr lang="en-US" sz="1100"/>
          </a:p>
        </p:txBody>
      </p:sp>
      <p:sp>
        <p:nvSpPr>
          <p:cNvPr id="16" name="Text 14"/>
          <p:cNvSpPr txBox="1"/>
          <p:nvPr/>
        </p:nvSpPr>
        <p:spPr>
          <a:xfrm>
            <a:off x="7863840" y="2578608"/>
            <a:ext cx="1005840" cy="256032"/>
          </a:xfrm>
          <a:prstGeom prst="rect">
            <a:avLst/>
          </a:prstGeom>
          <a:noFill/>
          <a:ln/>
        </p:spPr>
        <p:txBody>
          <a:bodyPr wrap="square" lIns="0" tIns="0" rIns="0" bIns="0" rtlCol="0" anchor="ctr"/>
          <a:lstStyle/>
          <a:p>
            <a:pPr marL="0" indent="0" algn="ctr">
              <a:buNone/>
            </a:pPr>
            <a:r>
              <a:rPr lang="en-US" sz="1200" b="1">
                <a:solidFill>
                  <a:srgbClr val="292934"/>
                </a:solidFill>
                <a:latin typeface="Tahoma" pitchFamily="34" charset="0"/>
                <a:ea typeface="Tahoma" pitchFamily="34" charset="-122"/>
                <a:cs typeface="Tahoma" pitchFamily="34" charset="-120"/>
              </a:rPr>
              <a:t>Comfort</a:t>
            </a:r>
            <a:endParaRPr lang="en-US" sz="1200"/>
          </a:p>
        </p:txBody>
      </p:sp>
      <p:sp>
        <p:nvSpPr>
          <p:cNvPr id="17" name="Text 15"/>
          <p:cNvSpPr txBox="1"/>
          <p:nvPr/>
        </p:nvSpPr>
        <p:spPr>
          <a:xfrm>
            <a:off x="7680960" y="2816352"/>
            <a:ext cx="1371600" cy="228600"/>
          </a:xfrm>
          <a:prstGeom prst="rect">
            <a:avLst/>
          </a:prstGeom>
          <a:noFill/>
          <a:ln/>
        </p:spPr>
        <p:txBody>
          <a:bodyPr wrap="square" lIns="0" tIns="0" rIns="0" bIns="0" rtlCol="0" anchor="ctr"/>
          <a:lstStyle/>
          <a:p>
            <a:pPr marL="0" indent="0" algn="ctr">
              <a:buNone/>
            </a:pPr>
            <a:r>
              <a:rPr lang="en-US" sz="1100">
                <a:solidFill>
                  <a:srgbClr val="595959"/>
                </a:solidFill>
                <a:latin typeface="Tahoma" pitchFamily="34" charset="0"/>
                <a:ea typeface="Tahoma" pitchFamily="34" charset="-122"/>
                <a:cs typeface="Tahoma" pitchFamily="34" charset="-120"/>
              </a:rPr>
              <a:t>motion sickness</a:t>
            </a:r>
            <a:endParaRPr lang="en-US" sz="1100"/>
          </a:p>
        </p:txBody>
      </p:sp>
      <p:sp>
        <p:nvSpPr>
          <p:cNvPr id="18" name="Text 16"/>
          <p:cNvSpPr txBox="1"/>
          <p:nvPr/>
        </p:nvSpPr>
        <p:spPr>
          <a:xfrm>
            <a:off x="5669280" y="1280160"/>
            <a:ext cx="2743200" cy="274320"/>
          </a:xfrm>
          <a:prstGeom prst="rect">
            <a:avLst/>
          </a:prstGeom>
          <a:noFill/>
          <a:ln/>
        </p:spPr>
        <p:txBody>
          <a:bodyPr wrap="square" lIns="0" tIns="0" rIns="0" bIns="0" rtlCol="0" anchor="ctr"/>
          <a:lstStyle/>
          <a:p>
            <a:pPr marL="0" indent="0" algn="ctr">
              <a:buNone/>
            </a:pPr>
            <a:r>
              <a:rPr lang="en-US" sz="1200" b="1">
                <a:solidFill>
                  <a:srgbClr val="C00000"/>
                </a:solidFill>
                <a:latin typeface="Tahoma" pitchFamily="34" charset="0"/>
                <a:ea typeface="Tahoma" pitchFamily="34" charset="-122"/>
                <a:cs typeface="Tahoma" pitchFamily="34" charset="-120"/>
              </a:rPr>
              <a:t>Can a trail balance both?</a:t>
            </a:r>
            <a:endParaRPr lang="en-US" sz="1200"/>
          </a:p>
        </p:txBody>
      </p:sp>
      <p:sp>
        <p:nvSpPr>
          <p:cNvPr id="19" name="Text 17"/>
          <p:cNvSpPr txBox="1"/>
          <p:nvPr/>
        </p:nvSpPr>
        <p:spPr>
          <a:xfrm>
            <a:off x="5303520" y="3611880"/>
            <a:ext cx="3474720" cy="411480"/>
          </a:xfrm>
          <a:prstGeom prst="rect">
            <a:avLst/>
          </a:prstGeom>
          <a:noFill/>
          <a:ln/>
        </p:spPr>
        <p:txBody>
          <a:bodyPr wrap="square" lIns="0" tIns="0" rIns="0" bIns="0" rtlCol="0" anchor="ctr"/>
          <a:lstStyle/>
          <a:p>
            <a:pPr marL="0" indent="0" algn="ctr">
              <a:buNone/>
            </a:pPr>
            <a:r>
              <a:rPr lang="en-US" sz="1100" i="1">
                <a:solidFill>
                  <a:srgbClr val="595959"/>
                </a:solidFill>
                <a:latin typeface="Tahoma" pitchFamily="34" charset="0"/>
                <a:ea typeface="Tahoma" pitchFamily="34" charset="-122"/>
                <a:cs typeface="Tahoma" pitchFamily="34" charset="-120"/>
              </a:rPr>
              <a:t>Usability = effectiveness, efficiency, satisfaction (ISO 9241-11)</a:t>
            </a:r>
            <a:endParaRPr lang="en-US" sz="1100"/>
          </a:p>
        </p:txBody>
      </p:sp>
      <p:sp>
        <p:nvSpPr>
          <p:cNvPr id="20" name="Citation"/>
          <p:cNvSpPr txBox="1"/>
          <p:nvPr/>
        </p:nvSpPr>
        <p:spPr>
          <a:xfrm>
            <a:off x="457200" y="4407408"/>
            <a:ext cx="7863840" cy="566928"/>
          </a:xfrm>
          <a:prstGeom prst="rect">
            <a:avLst/>
          </a:prstGeom>
          <a:noFill/>
          <a:ln/>
        </p:spPr>
        <p:txBody>
          <a:bodyPr wrap="square" lIns="0" tIns="0" rIns="0" bIns="0" rtlCol="0" anchor="b"/>
          <a:lstStyle/>
          <a:p>
            <a:pPr marL="0" indent="0">
              <a:buNone/>
            </a:pPr>
            <a:r>
              <a:rPr lang="en-US" sz="1100" i="1">
                <a:solidFill>
                  <a:srgbClr val="595959"/>
                </a:solidFill>
                <a:latin typeface="Tahoma" pitchFamily="34" charset="0"/>
                <a:ea typeface="Tahoma" pitchFamily="34" charset="-122"/>
                <a:cs typeface="Tahoma" pitchFamily="34" charset="-120"/>
              </a:rPr>
              <a:t>International Organization for Standardization. (2018). Ergonomics of human-system interaction - Part 11: Usability: Definitions and concepts (ISO Standard No. 9241-11:2018).</a:t>
            </a:r>
            <a:endParaRPr lang="en-US" sz="1100"/>
          </a:p>
        </p:txBody>
      </p:sp>
      <p:sp>
        <p:nvSpPr>
          <p:cNvPr id="25" name="Slide Number Placeholder 0"/>
          <p:cNvSpPr>
            <a:spLocks noGrp="1"/>
          </p:cNvSpPr>
          <p:nvPr>
            <p:ph type="sldNum" sz="quarter" idx="4294967295"/>
          </p:nvPr>
        </p:nvSpPr>
        <p:spPr>
          <a:xfrm>
            <a:off x="8412479" y="4800600"/>
            <a:ext cx="519573"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F7F7F"/>
                </a:solidFill>
                <a:latin typeface="Tahoma"/>
                <a:ea typeface="Tahoma"/>
                <a:cs typeface="Tahoma"/>
              </a:defRPr>
            </a:lvl1pPr>
          </a:lstStyle>
          <a:p>
            <a:pPr algn="r"/>
            <a:fld id="{F7021451-1387-4CA6-816F-3879F97B5CBC}" type="slidenum">
              <a:rPr lang="en-US" b="0" smtClean="0"/>
              <a:t>11</a:t>
            </a:fld>
            <a:r>
              <a:rPr lang="en-US" b="0" dirty="0"/>
              <a:t>/12</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40080"/>
          </a:xfrm>
          <a:prstGeom prst="rect">
            <a:avLst/>
          </a:prstGeom>
          <a:noFill/>
          <a:ln/>
        </p:spPr>
        <p:txBody>
          <a:bodyPr wrap="square" lIns="0" tIns="0" rIns="0" bIns="0" rtlCol="0" anchor="ctr"/>
          <a:lstStyle/>
          <a:p>
            <a:pPr marL="0" indent="0" algn="l">
              <a:buNone/>
            </a:pPr>
            <a:r>
              <a:rPr lang="en-US" sz="2500">
                <a:solidFill>
                  <a:srgbClr val="292934"/>
                </a:solidFill>
                <a:latin typeface="Tahoma" pitchFamily="34" charset="0"/>
                <a:ea typeface="Tahoma" pitchFamily="34" charset="-122"/>
                <a:cs typeface="Tahoma" pitchFamily="34" charset="-120"/>
              </a:rPr>
              <a:t>References</a:t>
            </a:r>
            <a:endParaRPr lang="en-US" sz="2500"/>
          </a:p>
        </p:txBody>
      </p:sp>
      <p:sp>
        <p:nvSpPr>
          <p:cNvPr id="3" name="References"/>
          <p:cNvSpPr txBox="1"/>
          <p:nvPr/>
        </p:nvSpPr>
        <p:spPr>
          <a:xfrm>
            <a:off x="457200" y="1005840"/>
            <a:ext cx="8229600" cy="3749040"/>
          </a:xfrm>
          <a:prstGeom prst="rect">
            <a:avLst/>
          </a:prstGeom>
          <a:noFill/>
          <a:ln/>
        </p:spPr>
        <p:txBody>
          <a:bodyPr wrap="square" lIns="0" tIns="0" rIns="0" bIns="0" rtlCol="0" anchor="t"/>
          <a:lstStyle/>
          <a:p>
            <a:pPr marL="0" indent="0">
              <a:spcAft>
                <a:spcPts val="600"/>
              </a:spcAft>
              <a:buNone/>
            </a:pPr>
            <a:r>
              <a:rPr lang="en-US" sz="1100" i="1">
                <a:solidFill>
                  <a:srgbClr val="595959"/>
                </a:solidFill>
                <a:latin typeface="Tahoma" pitchFamily="34" charset="0"/>
                <a:ea typeface="Tahoma" pitchFamily="34" charset="-122"/>
                <a:cs typeface="Tahoma" pitchFamily="34" charset="-120"/>
              </a:rPr>
              <a:t>Boletsis, C., &amp; Cedergren, J. E. (2019). VR locomotion in the new era of virtual reality: An empirical comparison of prevalent techniques. Advances in Human-Computer Interaction, 2019, Article 7420781. https://doi.org/10.1155/2019/7420781</a:t>
            </a:r>
            <a:endParaRPr lang="en-US" sz="1100"/>
          </a:p>
          <a:p>
            <a:pPr marL="0" indent="0">
              <a:spcAft>
                <a:spcPts val="600"/>
              </a:spcAft>
              <a:buNone/>
            </a:pPr>
            <a:r>
              <a:rPr lang="en-US" sz="1100" i="1">
                <a:solidFill>
                  <a:srgbClr val="595959"/>
                </a:solidFill>
                <a:latin typeface="Tahoma" pitchFamily="34" charset="0"/>
                <a:ea typeface="Tahoma" pitchFamily="34" charset="-122"/>
                <a:cs typeface="Tahoma" pitchFamily="34" charset="-120"/>
              </a:rPr>
              <a:t>Bowman, D. A., Koller, D., &amp; Hodges, L. F. (1997). Travel in immersive virtual environments: An evaluation of viewpoint motion control techniques. Proceedings of IEEE VRAIS ’97 (pp. 45–52). https://doi.org/10.1109/VRAIS.1997.583043</a:t>
            </a:r>
            <a:endParaRPr lang="en-US" sz="1100"/>
          </a:p>
          <a:p>
            <a:pPr marL="0" indent="0">
              <a:spcAft>
                <a:spcPts val="600"/>
              </a:spcAft>
              <a:buNone/>
            </a:pPr>
            <a:r>
              <a:rPr lang="en-US" sz="1100" i="1">
                <a:solidFill>
                  <a:srgbClr val="595959"/>
                </a:solidFill>
                <a:latin typeface="Tahoma" pitchFamily="34" charset="0"/>
                <a:ea typeface="Tahoma" pitchFamily="34" charset="-122"/>
                <a:cs typeface="Tahoma" pitchFamily="34" charset="-120"/>
              </a:rPr>
              <a:t>Cherep, L. A., Lim, A. F., Kelly, J. W., Acharya, D., Velasco, A., Bustamante, E., Ostrander, A. G., &amp; Gilbert, S. B. (2020). Spatial cognitive implications of teleporting through virtual environments. Journal of Experimental Psychology: Applied, 26(3), 480–492. https://doi.org/10.1037/xap0000263</a:t>
            </a:r>
            <a:endParaRPr lang="en-US" sz="1100"/>
          </a:p>
          <a:p>
            <a:pPr marL="0" indent="0">
              <a:spcAft>
                <a:spcPts val="600"/>
              </a:spcAft>
              <a:buNone/>
            </a:pPr>
            <a:r>
              <a:rPr lang="en-US" sz="1100" i="1">
                <a:solidFill>
                  <a:srgbClr val="595959"/>
                </a:solidFill>
                <a:latin typeface="Tahoma" pitchFamily="34" charset="0"/>
                <a:ea typeface="Tahoma" pitchFamily="34" charset="-122"/>
                <a:cs typeface="Tahoma" pitchFamily="34" charset="-120"/>
              </a:rPr>
              <a:t>Darken, R. P., &amp; Sibert, J. L. (1996). Wayfinding strategies and behaviors in large virtual worlds. Proceedings of CHI ’96 (pp. 142–149). https://doi.org/10.1145/238386.238459</a:t>
            </a:r>
            <a:endParaRPr lang="en-US" sz="1100"/>
          </a:p>
          <a:p>
            <a:pPr marL="0" indent="0">
              <a:spcAft>
                <a:spcPts val="600"/>
              </a:spcAft>
              <a:buNone/>
            </a:pPr>
            <a:r>
              <a:rPr lang="en-US" sz="1100" i="1">
                <a:solidFill>
                  <a:srgbClr val="595959"/>
                </a:solidFill>
                <a:latin typeface="Tahoma" pitchFamily="34" charset="0"/>
                <a:ea typeface="Tahoma" pitchFamily="34" charset="-122"/>
                <a:cs typeface="Tahoma" pitchFamily="34" charset="-120"/>
              </a:rPr>
              <a:t>International Organization for Standardization. (2018). Ergonomics of human-system interaction - Part 11: Usability: Definitions and concepts (ISO Standard No. 9241-11:2018).</a:t>
            </a:r>
            <a:endParaRPr lang="en-US" sz="1100"/>
          </a:p>
          <a:p>
            <a:pPr marL="0" indent="0">
              <a:spcAft>
                <a:spcPts val="600"/>
              </a:spcAft>
              <a:buNone/>
            </a:pPr>
            <a:r>
              <a:rPr lang="en-US" sz="1100" i="1">
                <a:solidFill>
                  <a:srgbClr val="595959"/>
                </a:solidFill>
                <a:latin typeface="Tahoma" pitchFamily="34" charset="0"/>
                <a:ea typeface="Tahoma" pitchFamily="34" charset="-122"/>
                <a:cs typeface="Tahoma" pitchFamily="34" charset="-120"/>
              </a:rPr>
              <a:t>Kennedy, R. S., Lane, N. E., Berbaum, K. S., &amp; Lilienthal, M. G. (1993). Simulator Sickness Questionnaire: An enhanced method for quantifying simulator sickness. The International Journal of Aviation Psychology, 3(3), 203–220. https://doi.org/10.1207/s15327108ijap0303_3</a:t>
            </a:r>
            <a:endParaRPr lang="en-US" sz="1100"/>
          </a:p>
          <a:p>
            <a:pPr marL="0" indent="0">
              <a:spcAft>
                <a:spcPts val="600"/>
              </a:spcAft>
              <a:buNone/>
            </a:pPr>
            <a:r>
              <a:rPr lang="en-US" sz="1100" i="1">
                <a:solidFill>
                  <a:srgbClr val="595959"/>
                </a:solidFill>
                <a:latin typeface="Tahoma" pitchFamily="34" charset="0"/>
                <a:ea typeface="Tahoma" pitchFamily="34" charset="-122"/>
                <a:cs typeface="Tahoma" pitchFamily="34" charset="-120"/>
              </a:rPr>
              <a:t>Langbehn, E., Lubos, P., &amp; Steinicke, F. (2018). Evaluation of locomotion techniques for room-scale VR: Joystick, teleportation, and redirected walking. Proceedings of VRIC ’18 (Article 4). https://doi.org/10.1145/3234253.3234291</a:t>
            </a:r>
            <a:endParaRPr lang="en-US" sz="1100"/>
          </a:p>
        </p:txBody>
      </p:sp>
      <p:sp>
        <p:nvSpPr>
          <p:cNvPr id="25" name="Slide Number Placeholder 0"/>
          <p:cNvSpPr>
            <a:spLocks noGrp="1"/>
          </p:cNvSpPr>
          <p:nvPr>
            <p:ph type="sldNum" sz="quarter" idx="4294967295"/>
          </p:nvPr>
        </p:nvSpPr>
        <p:spPr>
          <a:xfrm>
            <a:off x="8412479" y="4800600"/>
            <a:ext cx="537741"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7F7F7F"/>
                </a:solidFill>
                <a:latin typeface="Tahoma"/>
                <a:ea typeface="Tahoma"/>
                <a:cs typeface="Tahoma"/>
              </a:defRPr>
            </a:lvl1pPr>
          </a:lstStyle>
          <a:p>
            <a:pPr algn="r"/>
            <a:r>
              <a:rPr lang="en-US" b="0" dirty="0"/>
              <a:t>12/</a:t>
            </a:r>
            <a:fld id="{F7021451-1387-4CA6-816F-3879F97B5CBC}" type="slidenum">
              <a:rPr lang="en-US" b="0" smtClean="0"/>
              <a:t>12</a:t>
            </a:fld>
            <a:endParaRPr lang="en-US" dirty="0"/>
          </a:p>
        </p:txBody>
      </p:sp>
    </p:spTree>
  </p:cSld>
  <p:clrMapOvr>
    <a:masterClrMapping/>
  </p:clrMapOvr>
</p:sld>
</file>

<file path=ppt/theme/theme1.xml><?xml version="1.0" encoding="utf-8"?>
<a:theme xmlns:a="http://schemas.openxmlformats.org/drawingml/2006/main" name="CS464 Proposal">
  <a:themeElements>
    <a:clrScheme name="CS464 Proposal">
      <a:dk1>
        <a:srgbClr val="292934"/>
      </a:dk1>
      <a:lt1>
        <a:srgbClr val="FFFFFF"/>
      </a:lt1>
      <a:dk2>
        <a:srgbClr val="595959"/>
      </a:dk2>
      <a:lt2>
        <a:srgbClr val="F2F2F2"/>
      </a:lt2>
      <a:accent1>
        <a:srgbClr val="C00000"/>
      </a:accent1>
      <a:accent2>
        <a:srgbClr val="292934"/>
      </a:accent2>
      <a:accent3>
        <a:srgbClr val="595959"/>
      </a:accent3>
      <a:accent4>
        <a:srgbClr val="BFBFBF"/>
      </a:accent4>
      <a:accent5>
        <a:srgbClr val="7F7F7F"/>
      </a:accent5>
      <a:accent6>
        <a:srgbClr val="404040"/>
      </a:accent6>
      <a:hlink>
        <a:srgbClr val="C00000"/>
      </a:hlink>
      <a:folHlink>
        <a:srgbClr val="595959"/>
      </a:folHlink>
    </a:clrScheme>
    <a:fontScheme name="CS464 Proposal">
      <a:majorFont>
        <a:latin typeface="Tah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1565</TotalTime>
  <Words>2800</Words>
  <Application>Microsoft Macintosh PowerPoint</Application>
  <PresentationFormat>On-screen Show (16:9)</PresentationFormat>
  <Paragraphs>193</Paragraphs>
  <Slides>12</Slides>
  <Notes>12</Notes>
  <HiddenSlides>0</HiddenSlides>
  <MMClips>4</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Tahoma</vt:lpstr>
      <vt:lpstr>CS464 Proposal</vt:lpstr>
      <vt:lpstr>Does Teleporting Get You Lost?</vt:lpstr>
      <vt:lpstr>Problem: VR movement forces a trade-off</vt:lpstr>
      <vt:lpstr>Prior work: both problems are well documented</vt:lpstr>
      <vt:lpstr>Gap: nobody has tested a trail for teleport</vt:lpstr>
      <vt:lpstr>Objective, research questions, and hypotheses</vt:lpstr>
      <vt:lpstr>Experiment: apparatus and task</vt:lpstr>
      <vt:lpstr>Independent variable: three movement methods</vt:lpstr>
      <vt:lpstr>Dependent variables: what we measure</vt:lpstr>
      <vt:lpstr>Experimental design and counterbalancing</vt:lpstr>
      <vt:lpstr>Real-life application: who benefits</vt:lpstr>
      <vt:lpstr>Relation to HCI</vt:lpstr>
      <vt:lpstr>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Does Teleporting Get You Lost? Final Project Proposal</dc:title>
  <dc:subject>PptxGenJS Presentation</dc:subject>
  <dc:creator>Mahanyas Baira, Yulisa Medrano, Ashley Poppa, Sai Donepudi</dc:creator>
  <cp:lastModifiedBy>Mahanyas Baira</cp:lastModifiedBy>
  <cp:revision>8</cp:revision>
  <dcterms:created xsi:type="dcterms:W3CDTF">2026-10-05T15:13:39Z</dcterms:created>
  <dcterms:modified xsi:type="dcterms:W3CDTF">2026-10-09T14:15:24Z</dcterms:modified>
</cp:coreProperties>
</file>